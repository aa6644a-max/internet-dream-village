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08" d="100"/>
          <a:sy n="108" d="100"/>
        </p:scale>
        <p:origin x="594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776295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EF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4A9E75"/>
          </a:solidFill>
          <a:ln/>
        </p:spPr>
      </p:sp>
      <p:sp>
        <p:nvSpPr>
          <p:cNvPr id="4" name="Shape 2"/>
          <p:cNvSpPr/>
          <p:nvPr/>
        </p:nvSpPr>
        <p:spPr>
          <a:xfrm>
            <a:off x="164592" y="0"/>
            <a:ext cx="12024360" cy="914400"/>
          </a:xfrm>
          <a:prstGeom prst="rect">
            <a:avLst/>
          </a:prstGeom>
          <a:solidFill>
            <a:srgbClr val="F4F1E8"/>
          </a:solidFill>
          <a:ln/>
        </p:spPr>
      </p:sp>
      <p:sp>
        <p:nvSpPr>
          <p:cNvPr id="5" name="Shape 3"/>
          <p:cNvSpPr/>
          <p:nvPr/>
        </p:nvSpPr>
        <p:spPr>
          <a:xfrm>
            <a:off x="164592" y="914400"/>
            <a:ext cx="12024360" cy="0"/>
          </a:xfrm>
          <a:prstGeom prst="line">
            <a:avLst/>
          </a:prstGeom>
          <a:noFill/>
          <a:ln w="12700">
            <a:solidFill>
              <a:srgbClr val="DDD8C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2286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4A9E75"/>
                </a:solidFill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인터넷 드림마을</a:t>
            </a:r>
            <a:endParaRPr lang="en-US" sz="2000" dirty="0">
              <a:latin typeface="나눔스퀘어라운드 ExtraBold" panose="020B0600000101010101" pitchFamily="50" charset="-127"/>
              <a:ea typeface="나눔스퀘어라운드 ExtraBold" panose="020B0600000101010101" pitchFamily="50" charset="-127"/>
            </a:endParaRPr>
          </a:p>
        </p:txBody>
      </p:sp>
      <p:sp>
        <p:nvSpPr>
          <p:cNvPr id="7" name="Text 5"/>
          <p:cNvSpPr/>
          <p:nvPr/>
        </p:nvSpPr>
        <p:spPr>
          <a:xfrm>
            <a:off x="548640" y="5486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AAE98"/>
                </a:solidFill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Internet Dream Village</a:t>
            </a:r>
            <a:endParaRPr lang="en-US" sz="1300" dirty="0">
              <a:latin typeface="나눔스퀘어라운드 ExtraBold" panose="020B0600000101010101" pitchFamily="50" charset="-127"/>
              <a:ea typeface="나눔스퀘어라운드 ExtraBold" panose="020B0600000101010101" pitchFamily="50" charset="-127"/>
            </a:endParaRPr>
          </a:p>
        </p:txBody>
      </p:sp>
      <p:sp>
        <p:nvSpPr>
          <p:cNvPr id="8" name="Text 6"/>
          <p:cNvSpPr/>
          <p:nvPr/>
        </p:nvSpPr>
        <p:spPr>
          <a:xfrm>
            <a:off x="548640" y="1188720"/>
            <a:ext cx="7772400" cy="2834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2C3A2E"/>
                </a:solidFill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  <a:cs typeface="Pretendard" pitchFamily="34" charset="-120"/>
              </a:rPr>
              <a:t>청소년 스마트폰</a:t>
            </a:r>
            <a:endParaRPr lang="en-US" sz="4200" dirty="0">
              <a:latin typeface="나눔스퀘어라운드 ExtraBold" panose="020B0600000101010101" pitchFamily="50" charset="-127"/>
              <a:ea typeface="나눔스퀘어라운드 ExtraBold" panose="020B0600000101010101" pitchFamily="50" charset="-127"/>
            </a:endParaRPr>
          </a:p>
          <a:p>
            <a:pPr marL="0" indent="0">
              <a:buNone/>
            </a:pPr>
            <a:r>
              <a:rPr lang="en-US" sz="4200" b="1" dirty="0">
                <a:solidFill>
                  <a:srgbClr val="2C3A2E"/>
                </a:solidFill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  <a:cs typeface="Pretendard" pitchFamily="34" charset="-120"/>
              </a:rPr>
              <a:t>과몰입 방지</a:t>
            </a:r>
            <a:endParaRPr lang="en-US" sz="4200" dirty="0">
              <a:latin typeface="나눔스퀘어라운드 ExtraBold" panose="020B0600000101010101" pitchFamily="50" charset="-127"/>
              <a:ea typeface="나눔스퀘어라운드 ExtraBold" panose="020B0600000101010101" pitchFamily="50" charset="-127"/>
            </a:endParaRPr>
          </a:p>
          <a:p>
            <a:pPr marL="0" indent="0">
              <a:buNone/>
            </a:pPr>
            <a:r>
              <a:rPr lang="en-US" sz="4200" b="1" dirty="0">
                <a:solidFill>
                  <a:srgbClr val="2C3A2E"/>
                </a:solidFill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  <a:cs typeface="Pretendard" pitchFamily="34" charset="-120"/>
              </a:rPr>
              <a:t>AI 상담 플랫폼</a:t>
            </a:r>
            <a:endParaRPr lang="en-US" sz="4200" dirty="0">
              <a:latin typeface="나눔스퀘어라운드 ExtraBold" panose="020B0600000101010101" pitchFamily="50" charset="-127"/>
              <a:ea typeface="나눔스퀘어라운드 ExtraBold" panose="020B0600000101010101" pitchFamily="50" charset="-127"/>
            </a:endParaRPr>
          </a:p>
        </p:txBody>
      </p:sp>
      <p:sp>
        <p:nvSpPr>
          <p:cNvPr id="9" name="Text 7"/>
          <p:cNvSpPr/>
          <p:nvPr/>
        </p:nvSpPr>
        <p:spPr>
          <a:xfrm>
            <a:off x="548640" y="416052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dirty="0">
                <a:solidFill>
                  <a:srgbClr val="4A9E75"/>
                </a:solidFill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EFT · CIREF 기반 미래 시각화 웹앱</a:t>
            </a:r>
            <a:endParaRPr lang="en-US" sz="1900" dirty="0">
              <a:latin typeface="나눔스퀘어라운드 ExtraBold" panose="020B0600000101010101" pitchFamily="50" charset="-127"/>
              <a:ea typeface="나눔스퀘어라운드 ExtraBold" panose="020B0600000101010101" pitchFamily="50" charset="-127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548640" y="4754880"/>
            <a:ext cx="6400800" cy="0"/>
          </a:xfrm>
          <a:prstGeom prst="line">
            <a:avLst/>
          </a:prstGeom>
          <a:noFill/>
          <a:ln w="12700">
            <a:solidFill>
              <a:srgbClr val="DDD8C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4919472"/>
            <a:ext cx="6400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C6B5E"/>
                </a:solidFill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2026. 05.  |  MK</a:t>
            </a:r>
            <a:endParaRPr lang="en-US" sz="1400" dirty="0">
              <a:latin typeface="나눔스퀘어라운드 ExtraBold" panose="020B0600000101010101" pitchFamily="50" charset="-127"/>
              <a:ea typeface="나눔스퀘어라운드 ExtraBold" panose="020B0600000101010101" pitchFamily="50" charset="-127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548640" y="5394960"/>
            <a:ext cx="1600200" cy="329184"/>
          </a:xfrm>
          <a:prstGeom prst="rect">
            <a:avLst/>
          </a:prstGeom>
          <a:solidFill>
            <a:srgbClr val="E8F5EE"/>
          </a:solidFill>
          <a:ln w="12700">
            <a:solidFill>
              <a:srgbClr val="4A9E7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" y="5413248"/>
            <a:ext cx="1600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4A9E75"/>
                </a:solidFill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Next.js 14</a:t>
            </a:r>
            <a:endParaRPr lang="en-US" sz="1200" dirty="0">
              <a:latin typeface="나눔스퀘어라운드 ExtraBold" panose="020B0600000101010101" pitchFamily="50" charset="-127"/>
              <a:ea typeface="나눔스퀘어라운드 ExtraBold" panose="020B0600000101010101" pitchFamily="50" charset="-127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2286000" y="5394960"/>
            <a:ext cx="1600200" cy="329184"/>
          </a:xfrm>
          <a:prstGeom prst="rect">
            <a:avLst/>
          </a:prstGeom>
          <a:solidFill>
            <a:srgbClr val="E8F5EE"/>
          </a:solidFill>
          <a:ln w="12700">
            <a:solidFill>
              <a:srgbClr val="4A9E7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286000" y="5413248"/>
            <a:ext cx="1600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4A9E75"/>
                </a:solidFill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Claude API</a:t>
            </a:r>
            <a:endParaRPr lang="en-US" sz="1200" dirty="0">
              <a:latin typeface="나눔스퀘어라운드 ExtraBold" panose="020B0600000101010101" pitchFamily="50" charset="-127"/>
              <a:ea typeface="나눔스퀘어라운드 ExtraBold" panose="020B0600000101010101" pitchFamily="50" charset="-127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4023360" y="5394960"/>
            <a:ext cx="1600200" cy="329184"/>
          </a:xfrm>
          <a:prstGeom prst="rect">
            <a:avLst/>
          </a:prstGeom>
          <a:solidFill>
            <a:srgbClr val="E8F5EE"/>
          </a:solidFill>
          <a:ln w="12700">
            <a:solidFill>
              <a:srgbClr val="4A9E7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023360" y="5413248"/>
            <a:ext cx="1600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4A9E75"/>
                </a:solidFill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Supabase</a:t>
            </a:r>
            <a:endParaRPr lang="en-US" sz="1200" dirty="0">
              <a:latin typeface="나눔스퀘어라운드 ExtraBold" panose="020B0600000101010101" pitchFamily="50" charset="-127"/>
              <a:ea typeface="나눔스퀘어라운드 ExtraBold" panose="020B0600000101010101" pitchFamily="50" charset="-127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5760720" y="5413248"/>
            <a:ext cx="1600200" cy="329184"/>
          </a:xfrm>
          <a:prstGeom prst="rect">
            <a:avLst/>
          </a:prstGeom>
          <a:solidFill>
            <a:srgbClr val="E8F5EE"/>
          </a:solidFill>
          <a:ln w="12700">
            <a:solidFill>
              <a:srgbClr val="4A9E7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760720" y="5413248"/>
            <a:ext cx="1600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4A9E75"/>
                </a:solidFill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Vercel</a:t>
            </a:r>
            <a:endParaRPr lang="en-US" sz="1200" dirty="0">
              <a:latin typeface="나눔스퀘어라운드 ExtraBold" panose="020B0600000101010101" pitchFamily="50" charset="-127"/>
              <a:ea typeface="나눔스퀘어라운드 ExtraBold" panose="020B0600000101010101" pitchFamily="50" charset="-127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8595360" y="914400"/>
            <a:ext cx="3429000" cy="5943600"/>
          </a:xfrm>
          <a:prstGeom prst="rect">
            <a:avLst/>
          </a:prstGeom>
          <a:solidFill>
            <a:srgbClr val="E8F5EE"/>
          </a:solidFill>
          <a:ln/>
        </p:spPr>
      </p:sp>
      <p:sp>
        <p:nvSpPr>
          <p:cNvPr id="21" name="Text 19"/>
          <p:cNvSpPr/>
          <p:nvPr/>
        </p:nvSpPr>
        <p:spPr>
          <a:xfrm>
            <a:off x="8595360" y="1645920"/>
            <a:ext cx="34290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0" dirty="0">
                <a:solidFill>
                  <a:srgbClr val="000000"/>
                </a:solidFill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🌳</a:t>
            </a:r>
            <a:endParaRPr lang="en-US" sz="8000" dirty="0">
              <a:latin typeface="나눔스퀘어라운드 ExtraBold" panose="020B0600000101010101" pitchFamily="50" charset="-127"/>
              <a:ea typeface="나눔스퀘어라운드 ExtraBold" panose="020B0600000101010101" pitchFamily="50" charset="-127"/>
            </a:endParaRPr>
          </a:p>
        </p:txBody>
      </p:sp>
      <p:sp>
        <p:nvSpPr>
          <p:cNvPr id="22" name="Shape 20"/>
          <p:cNvSpPr/>
          <p:nvPr/>
        </p:nvSpPr>
        <p:spPr>
          <a:xfrm>
            <a:off x="8823960" y="3246120"/>
            <a:ext cx="2971800" cy="420624"/>
          </a:xfrm>
          <a:prstGeom prst="rect">
            <a:avLst/>
          </a:prstGeom>
          <a:solidFill>
            <a:srgbClr val="FFFEFB"/>
          </a:solidFill>
          <a:ln w="12700">
            <a:solidFill>
              <a:srgbClr val="DDD8C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823960" y="3264408"/>
            <a:ext cx="2971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2C3A2E"/>
                </a:solidFill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📖 마음일기</a:t>
            </a:r>
            <a:endParaRPr lang="en-US" sz="1300" dirty="0">
              <a:latin typeface="나눔스퀘어라운드 ExtraBold" panose="020B0600000101010101" pitchFamily="50" charset="-127"/>
              <a:ea typeface="나눔스퀘어라운드 ExtraBold" panose="020B0600000101010101" pitchFamily="50" charset="-127"/>
            </a:endParaRPr>
          </a:p>
        </p:txBody>
      </p:sp>
      <p:sp>
        <p:nvSpPr>
          <p:cNvPr id="24" name="Shape 22"/>
          <p:cNvSpPr/>
          <p:nvPr/>
        </p:nvSpPr>
        <p:spPr>
          <a:xfrm>
            <a:off x="8823960" y="3776472"/>
            <a:ext cx="2971800" cy="420624"/>
          </a:xfrm>
          <a:prstGeom prst="rect">
            <a:avLst/>
          </a:prstGeom>
          <a:solidFill>
            <a:srgbClr val="FFFEFB"/>
          </a:solidFill>
          <a:ln w="12700">
            <a:solidFill>
              <a:srgbClr val="DDD8C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823960" y="3794760"/>
            <a:ext cx="2971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2C3A2E"/>
                </a:solidFill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🔮 미래의 나</a:t>
            </a:r>
            <a:endParaRPr lang="en-US" sz="1300" dirty="0">
              <a:latin typeface="나눔스퀘어라운드 ExtraBold" panose="020B0600000101010101" pitchFamily="50" charset="-127"/>
              <a:ea typeface="나눔스퀘어라운드 ExtraBold" panose="020B0600000101010101" pitchFamily="50" charset="-127"/>
            </a:endParaRPr>
          </a:p>
        </p:txBody>
      </p:sp>
      <p:sp>
        <p:nvSpPr>
          <p:cNvPr id="26" name="Shape 24"/>
          <p:cNvSpPr/>
          <p:nvPr/>
        </p:nvSpPr>
        <p:spPr>
          <a:xfrm>
            <a:off x="8823960" y="4306824"/>
            <a:ext cx="2971800" cy="420624"/>
          </a:xfrm>
          <a:prstGeom prst="rect">
            <a:avLst/>
          </a:prstGeom>
          <a:solidFill>
            <a:srgbClr val="FFFEFB"/>
          </a:solidFill>
          <a:ln w="12700">
            <a:solidFill>
              <a:srgbClr val="DDD8C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823960" y="4325112"/>
            <a:ext cx="2971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2C3A2E"/>
                </a:solidFill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📊 자가진단</a:t>
            </a:r>
            <a:endParaRPr lang="en-US" sz="1300" dirty="0">
              <a:latin typeface="나눔스퀘어라운드 ExtraBold" panose="020B0600000101010101" pitchFamily="50" charset="-127"/>
              <a:ea typeface="나눔스퀘어라운드 ExtraBold" panose="020B0600000101010101" pitchFamily="50" charset="-127"/>
            </a:endParaRPr>
          </a:p>
        </p:txBody>
      </p:sp>
      <p:sp>
        <p:nvSpPr>
          <p:cNvPr id="28" name="Shape 26"/>
          <p:cNvSpPr/>
          <p:nvPr/>
        </p:nvSpPr>
        <p:spPr>
          <a:xfrm>
            <a:off x="8823960" y="4837176"/>
            <a:ext cx="2971800" cy="420624"/>
          </a:xfrm>
          <a:prstGeom prst="rect">
            <a:avLst/>
          </a:prstGeom>
          <a:solidFill>
            <a:srgbClr val="FFFEFB"/>
          </a:solidFill>
          <a:ln w="12700">
            <a:solidFill>
              <a:srgbClr val="DDD8C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823960" y="4855464"/>
            <a:ext cx="2971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2C3A2E"/>
                </a:solidFill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🧩 미로 풀기</a:t>
            </a:r>
            <a:endParaRPr lang="en-US" sz="1300" dirty="0">
              <a:latin typeface="나눔스퀘어라운드 ExtraBold" panose="020B0600000101010101" pitchFamily="50" charset="-127"/>
              <a:ea typeface="나눔스퀘어라운드 ExtraBold" panose="020B0600000101010101" pitchFamily="50" charset="-127"/>
            </a:endParaRPr>
          </a:p>
        </p:txBody>
      </p:sp>
      <p:sp>
        <p:nvSpPr>
          <p:cNvPr id="30" name="Shape 28"/>
          <p:cNvSpPr/>
          <p:nvPr/>
        </p:nvSpPr>
        <p:spPr>
          <a:xfrm>
            <a:off x="8823960" y="5367528"/>
            <a:ext cx="2971800" cy="420624"/>
          </a:xfrm>
          <a:prstGeom prst="rect">
            <a:avLst/>
          </a:prstGeom>
          <a:solidFill>
            <a:srgbClr val="FFFEFB"/>
          </a:solidFill>
          <a:ln w="12700">
            <a:solidFill>
              <a:srgbClr val="DDD8C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823960" y="5385816"/>
            <a:ext cx="2971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2C3A2E"/>
                </a:solidFill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🔔 위기 감지</a:t>
            </a:r>
            <a:endParaRPr lang="en-US" sz="1300" dirty="0">
              <a:latin typeface="나눔스퀘어라운드 ExtraBold" panose="020B0600000101010101" pitchFamily="50" charset="-127"/>
              <a:ea typeface="나눔스퀘어라운드 ExtraBold" panose="020B0600000101010101" pitchFamily="50" charset="-127"/>
            </a:endParaRPr>
          </a:p>
        </p:txBody>
      </p:sp>
      <p:sp>
        <p:nvSpPr>
          <p:cNvPr id="32" name="Shape 30"/>
          <p:cNvSpPr/>
          <p:nvPr/>
        </p:nvSpPr>
        <p:spPr>
          <a:xfrm>
            <a:off x="8823960" y="5897880"/>
            <a:ext cx="2971800" cy="420624"/>
          </a:xfrm>
          <a:prstGeom prst="rect">
            <a:avLst/>
          </a:prstGeom>
          <a:solidFill>
            <a:srgbClr val="FFFEFB"/>
          </a:solidFill>
          <a:ln w="12700">
            <a:solidFill>
              <a:srgbClr val="DDD8CC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823960" y="5916168"/>
            <a:ext cx="2971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2C3A2E"/>
                </a:solidFill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🏫 관리자 대시보드</a:t>
            </a:r>
            <a:endParaRPr lang="en-US" sz="1300" dirty="0">
              <a:latin typeface="나눔스퀘어라운드 ExtraBold" panose="020B0600000101010101" pitchFamily="50" charset="-127"/>
              <a:ea typeface="나눔스퀘어라운드 ExtraBold" panose="020B0600000101010101" pitchFamily="50" charset="-127"/>
            </a:endParaRPr>
          </a:p>
        </p:txBody>
      </p:sp>
      <p:sp>
        <p:nvSpPr>
          <p:cNvPr id="34" name="Shape 32"/>
          <p:cNvSpPr/>
          <p:nvPr/>
        </p:nvSpPr>
        <p:spPr>
          <a:xfrm>
            <a:off x="164592" y="6400800"/>
            <a:ext cx="8412480" cy="457200"/>
          </a:xfrm>
          <a:prstGeom prst="rect">
            <a:avLst/>
          </a:prstGeom>
          <a:solidFill>
            <a:srgbClr val="F4F1E8"/>
          </a:solidFill>
          <a:ln/>
        </p:spPr>
      </p:sp>
      <p:sp>
        <p:nvSpPr>
          <p:cNvPr id="35" name="Text 33"/>
          <p:cNvSpPr/>
          <p:nvPr/>
        </p:nvSpPr>
        <p:spPr>
          <a:xfrm>
            <a:off x="548640" y="6446520"/>
            <a:ext cx="8046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C6B5E"/>
                </a:solidFill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Claude Code (Vibe Coding) 방식으로 개발</a:t>
            </a:r>
            <a:endParaRPr lang="en-US" sz="1300" dirty="0">
              <a:latin typeface="나눔스퀘어라운드 ExtraBold" panose="020B0600000101010101" pitchFamily="50" charset="-127"/>
              <a:ea typeface="나눔스퀘어라운드 ExtraBold" panose="020B0600000101010101" pitchFamily="50" charset="-127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EF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2C3E35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4A9E75"/>
          </a:solidFill>
          <a:ln/>
        </p:spPr>
      </p:sp>
      <p:sp>
        <p:nvSpPr>
          <p:cNvPr id="5" name="Text 3"/>
          <p:cNvSpPr/>
          <p:nvPr/>
        </p:nvSpPr>
        <p:spPr>
          <a:xfrm>
            <a:off x="365760" y="109728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EFB"/>
                </a:solidFill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  <a:cs typeface="Pretendard" pitchFamily="34" charset="-120"/>
              </a:rPr>
              <a:t>발표 구성</a:t>
            </a:r>
            <a:endParaRPr lang="en-US" sz="2800" dirty="0">
              <a:latin typeface="나눔스퀘어라운드 ExtraBold" panose="020B0600000101010101" pitchFamily="50" charset="-127"/>
              <a:ea typeface="나눔스퀘어라운드 ExtraBold" panose="020B0600000101010101" pitchFamily="50" charset="-127"/>
            </a:endParaRPr>
          </a:p>
        </p:txBody>
      </p:sp>
      <p:sp>
        <p:nvSpPr>
          <p:cNvPr id="6" name="Text 4"/>
          <p:cNvSpPr/>
          <p:nvPr/>
        </p:nvSpPr>
        <p:spPr>
          <a:xfrm>
            <a:off x="365760" y="676656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A8C4B2"/>
                </a:solidFill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Agenda</a:t>
            </a:r>
            <a:endParaRPr lang="en-US" sz="1500" dirty="0">
              <a:latin typeface="나눔스퀘어라운드 ExtraBold" panose="020B0600000101010101" pitchFamily="50" charset="-127"/>
              <a:ea typeface="나눔스퀘어라운드 ExtraBold" panose="020B0600000101010101" pitchFamily="50" charset="-127"/>
            </a:endParaRPr>
          </a:p>
        </p:txBody>
      </p:sp>
      <p:sp>
        <p:nvSpPr>
          <p:cNvPr id="7" name="Text 5"/>
          <p:cNvSpPr/>
          <p:nvPr/>
        </p:nvSpPr>
        <p:spPr>
          <a:xfrm>
            <a:off x="11430000" y="109728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400" dirty="0">
                <a:solidFill>
                  <a:srgbClr val="7A9E8A"/>
                </a:solidFill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02</a:t>
            </a:r>
            <a:endParaRPr lang="en-US" sz="1400" dirty="0">
              <a:latin typeface="나눔스퀘어라운드 ExtraBold" panose="020B0600000101010101" pitchFamily="50" charset="-127"/>
              <a:ea typeface="나눔스퀘어라운드 ExtraBold" panose="020B0600000101010101" pitchFamily="50" charset="-127"/>
            </a:endParaRPr>
          </a:p>
        </p:txBody>
      </p:sp>
      <p:sp>
        <p:nvSpPr>
          <p:cNvPr id="8" name="Shape 6"/>
          <p:cNvSpPr/>
          <p:nvPr/>
        </p:nvSpPr>
        <p:spPr>
          <a:xfrm>
            <a:off x="731520" y="1280160"/>
            <a:ext cx="10725912" cy="749808"/>
          </a:xfrm>
          <a:prstGeom prst="rect">
            <a:avLst/>
          </a:prstGeom>
          <a:solidFill>
            <a:srgbClr val="FAF8F2"/>
          </a:solidFill>
          <a:ln w="12700">
            <a:solidFill>
              <a:srgbClr val="DDD8C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31520" y="1280160"/>
            <a:ext cx="658368" cy="749808"/>
          </a:xfrm>
          <a:prstGeom prst="rect">
            <a:avLst/>
          </a:prstGeom>
          <a:solidFill>
            <a:srgbClr val="E8F5EE"/>
          </a:solidFill>
          <a:ln/>
        </p:spPr>
      </p:sp>
      <p:sp>
        <p:nvSpPr>
          <p:cNvPr id="10" name="Text 8"/>
          <p:cNvSpPr/>
          <p:nvPr/>
        </p:nvSpPr>
        <p:spPr>
          <a:xfrm>
            <a:off x="731520" y="1481328"/>
            <a:ext cx="65836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4A9E75"/>
                </a:solidFill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01</a:t>
            </a:r>
            <a:endParaRPr lang="en-US" sz="1600" dirty="0">
              <a:latin typeface="나눔스퀘어라운드 ExtraBold" panose="020B0600000101010101" pitchFamily="50" charset="-127"/>
              <a:ea typeface="나눔스퀘어라운드 ExtraBold" panose="020B0600000101010101" pitchFamily="50" charset="-127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1389888" y="1280160"/>
            <a:ext cx="36576" cy="749808"/>
          </a:xfrm>
          <a:prstGeom prst="rect">
            <a:avLst/>
          </a:prstGeom>
          <a:solidFill>
            <a:srgbClr val="4A9E75"/>
          </a:solidFill>
          <a:ln/>
        </p:spPr>
      </p:sp>
      <p:sp>
        <p:nvSpPr>
          <p:cNvPr id="12" name="Text 10"/>
          <p:cNvSpPr/>
          <p:nvPr/>
        </p:nvSpPr>
        <p:spPr>
          <a:xfrm>
            <a:off x="1554480" y="1481328"/>
            <a:ext cx="97200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dirty="0">
                <a:solidFill>
                  <a:srgbClr val="2C3A2E"/>
                </a:solidFill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문제 현황 — 청소년 스마트폰 과몰입 실태</a:t>
            </a:r>
            <a:endParaRPr lang="en-US" sz="1900" dirty="0">
              <a:latin typeface="나눔스퀘어라운드 ExtraBold" panose="020B0600000101010101" pitchFamily="50" charset="-127"/>
              <a:ea typeface="나눔스퀘어라운드 ExtraBold" panose="020B0600000101010101" pitchFamily="50" charset="-127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731520" y="2194560"/>
            <a:ext cx="10725912" cy="749808"/>
          </a:xfrm>
          <a:prstGeom prst="rect">
            <a:avLst/>
          </a:prstGeom>
          <a:solidFill>
            <a:srgbClr val="FAF8F2"/>
          </a:solidFill>
          <a:ln w="12700">
            <a:solidFill>
              <a:srgbClr val="DDD8C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31520" y="2194560"/>
            <a:ext cx="658368" cy="749808"/>
          </a:xfrm>
          <a:prstGeom prst="rect">
            <a:avLst/>
          </a:prstGeom>
          <a:solidFill>
            <a:srgbClr val="E8F5EE"/>
          </a:solidFill>
          <a:ln/>
        </p:spPr>
      </p:sp>
      <p:sp>
        <p:nvSpPr>
          <p:cNvPr id="15" name="Text 13"/>
          <p:cNvSpPr/>
          <p:nvPr/>
        </p:nvSpPr>
        <p:spPr>
          <a:xfrm>
            <a:off x="731520" y="2395728"/>
            <a:ext cx="65836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4A9E75"/>
                </a:solidFill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02</a:t>
            </a:r>
            <a:endParaRPr lang="en-US" sz="1600" dirty="0">
              <a:latin typeface="나눔스퀘어라운드 ExtraBold" panose="020B0600000101010101" pitchFamily="50" charset="-127"/>
              <a:ea typeface="나눔스퀘어라운드 ExtraBold" panose="020B0600000101010101" pitchFamily="50" charset="-127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1389888" y="2194560"/>
            <a:ext cx="36576" cy="749808"/>
          </a:xfrm>
          <a:prstGeom prst="rect">
            <a:avLst/>
          </a:prstGeom>
          <a:solidFill>
            <a:srgbClr val="4A9E75"/>
          </a:solidFill>
          <a:ln/>
        </p:spPr>
      </p:sp>
      <p:sp>
        <p:nvSpPr>
          <p:cNvPr id="17" name="Text 15"/>
          <p:cNvSpPr/>
          <p:nvPr/>
        </p:nvSpPr>
        <p:spPr>
          <a:xfrm>
            <a:off x="1554480" y="2395728"/>
            <a:ext cx="97200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dirty="0">
                <a:solidFill>
                  <a:srgbClr val="2C3A2E"/>
                </a:solidFill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솔루션 개요 — 인터넷 드림마을 접근 방식</a:t>
            </a:r>
            <a:endParaRPr lang="en-US" sz="1900" dirty="0">
              <a:latin typeface="나눔스퀘어라운드 ExtraBold" panose="020B0600000101010101" pitchFamily="50" charset="-127"/>
              <a:ea typeface="나눔스퀘어라운드 ExtraBold" panose="020B0600000101010101" pitchFamily="50" charset="-127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731520" y="3108960"/>
            <a:ext cx="10725912" cy="749808"/>
          </a:xfrm>
          <a:prstGeom prst="rect">
            <a:avLst/>
          </a:prstGeom>
          <a:solidFill>
            <a:srgbClr val="FAF8F2"/>
          </a:solidFill>
          <a:ln w="12700">
            <a:solidFill>
              <a:srgbClr val="DDD8C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31520" y="3108960"/>
            <a:ext cx="658368" cy="749808"/>
          </a:xfrm>
          <a:prstGeom prst="rect">
            <a:avLst/>
          </a:prstGeom>
          <a:solidFill>
            <a:srgbClr val="E8F5EE"/>
          </a:solidFill>
          <a:ln/>
        </p:spPr>
      </p:sp>
      <p:sp>
        <p:nvSpPr>
          <p:cNvPr id="20" name="Text 18"/>
          <p:cNvSpPr/>
          <p:nvPr/>
        </p:nvSpPr>
        <p:spPr>
          <a:xfrm>
            <a:off x="731520" y="3310128"/>
            <a:ext cx="65836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4A9E75"/>
                </a:solidFill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03</a:t>
            </a:r>
            <a:endParaRPr lang="en-US" sz="1600" dirty="0">
              <a:latin typeface="나눔스퀘어라운드 ExtraBold" panose="020B0600000101010101" pitchFamily="50" charset="-127"/>
              <a:ea typeface="나눔스퀘어라운드 ExtraBold" panose="020B0600000101010101" pitchFamily="50" charset="-127"/>
            </a:endParaRPr>
          </a:p>
        </p:txBody>
      </p:sp>
      <p:sp>
        <p:nvSpPr>
          <p:cNvPr id="21" name="Shape 19"/>
          <p:cNvSpPr/>
          <p:nvPr/>
        </p:nvSpPr>
        <p:spPr>
          <a:xfrm>
            <a:off x="1389888" y="3108960"/>
            <a:ext cx="36576" cy="749808"/>
          </a:xfrm>
          <a:prstGeom prst="rect">
            <a:avLst/>
          </a:prstGeom>
          <a:solidFill>
            <a:srgbClr val="4A9E75"/>
          </a:solidFill>
          <a:ln/>
        </p:spPr>
      </p:sp>
      <p:sp>
        <p:nvSpPr>
          <p:cNvPr id="22" name="Text 20"/>
          <p:cNvSpPr/>
          <p:nvPr/>
        </p:nvSpPr>
        <p:spPr>
          <a:xfrm>
            <a:off x="1554480" y="3310128"/>
            <a:ext cx="97200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dirty="0">
                <a:solidFill>
                  <a:srgbClr val="2C3A2E"/>
                </a:solidFill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핵심 이론 배경 (EFT · CIREF · 지연 할인 극복)</a:t>
            </a:r>
            <a:endParaRPr lang="en-US" sz="1900" dirty="0">
              <a:latin typeface="나눔스퀘어라운드 ExtraBold" panose="020B0600000101010101" pitchFamily="50" charset="-127"/>
              <a:ea typeface="나눔스퀘어라운드 ExtraBold" panose="020B0600000101010101" pitchFamily="50" charset="-127"/>
            </a:endParaRPr>
          </a:p>
        </p:txBody>
      </p:sp>
      <p:sp>
        <p:nvSpPr>
          <p:cNvPr id="23" name="Shape 21"/>
          <p:cNvSpPr/>
          <p:nvPr/>
        </p:nvSpPr>
        <p:spPr>
          <a:xfrm>
            <a:off x="731520" y="4023360"/>
            <a:ext cx="10725912" cy="749808"/>
          </a:xfrm>
          <a:prstGeom prst="rect">
            <a:avLst/>
          </a:prstGeom>
          <a:solidFill>
            <a:srgbClr val="FAF8F2"/>
          </a:solidFill>
          <a:ln w="12700">
            <a:solidFill>
              <a:srgbClr val="DDD8C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31520" y="4023360"/>
            <a:ext cx="658368" cy="749808"/>
          </a:xfrm>
          <a:prstGeom prst="rect">
            <a:avLst/>
          </a:prstGeom>
          <a:solidFill>
            <a:srgbClr val="E8F5EE"/>
          </a:solidFill>
          <a:ln/>
        </p:spPr>
      </p:sp>
      <p:sp>
        <p:nvSpPr>
          <p:cNvPr id="25" name="Text 23"/>
          <p:cNvSpPr/>
          <p:nvPr/>
        </p:nvSpPr>
        <p:spPr>
          <a:xfrm>
            <a:off x="731520" y="4224528"/>
            <a:ext cx="65836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4A9E75"/>
                </a:solidFill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04</a:t>
            </a:r>
            <a:endParaRPr lang="en-US" sz="1600" dirty="0">
              <a:latin typeface="나눔스퀘어라운드 ExtraBold" panose="020B0600000101010101" pitchFamily="50" charset="-127"/>
              <a:ea typeface="나눔스퀘어라운드 ExtraBold" panose="020B0600000101010101" pitchFamily="50" charset="-127"/>
            </a:endParaRPr>
          </a:p>
        </p:txBody>
      </p:sp>
      <p:sp>
        <p:nvSpPr>
          <p:cNvPr id="26" name="Shape 24"/>
          <p:cNvSpPr/>
          <p:nvPr/>
        </p:nvSpPr>
        <p:spPr>
          <a:xfrm>
            <a:off x="1389888" y="4023360"/>
            <a:ext cx="36576" cy="749808"/>
          </a:xfrm>
          <a:prstGeom prst="rect">
            <a:avLst/>
          </a:prstGeom>
          <a:solidFill>
            <a:srgbClr val="4A9E75"/>
          </a:solidFill>
          <a:ln/>
        </p:spPr>
      </p:sp>
      <p:sp>
        <p:nvSpPr>
          <p:cNvPr id="27" name="Text 25"/>
          <p:cNvSpPr/>
          <p:nvPr/>
        </p:nvSpPr>
        <p:spPr>
          <a:xfrm>
            <a:off x="1554480" y="4224528"/>
            <a:ext cx="97200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dirty="0">
                <a:solidFill>
                  <a:srgbClr val="2C3A2E"/>
                </a:solidFill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4개 핵심 모듈 및 계정 구조</a:t>
            </a:r>
            <a:endParaRPr lang="en-US" sz="1900" dirty="0">
              <a:latin typeface="나눔스퀘어라운드 ExtraBold" panose="020B0600000101010101" pitchFamily="50" charset="-127"/>
              <a:ea typeface="나눔스퀘어라운드 ExtraBold" panose="020B0600000101010101" pitchFamily="50" charset="-127"/>
            </a:endParaRPr>
          </a:p>
        </p:txBody>
      </p:sp>
      <p:sp>
        <p:nvSpPr>
          <p:cNvPr id="28" name="Shape 26"/>
          <p:cNvSpPr/>
          <p:nvPr/>
        </p:nvSpPr>
        <p:spPr>
          <a:xfrm>
            <a:off x="731520" y="4937760"/>
            <a:ext cx="10725912" cy="749808"/>
          </a:xfrm>
          <a:prstGeom prst="rect">
            <a:avLst/>
          </a:prstGeom>
          <a:solidFill>
            <a:srgbClr val="FAF8F2"/>
          </a:solidFill>
          <a:ln w="12700">
            <a:solidFill>
              <a:srgbClr val="DDD8CC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31520" y="4937760"/>
            <a:ext cx="658368" cy="749808"/>
          </a:xfrm>
          <a:prstGeom prst="rect">
            <a:avLst/>
          </a:prstGeom>
          <a:solidFill>
            <a:srgbClr val="E8F5EE"/>
          </a:solidFill>
          <a:ln/>
        </p:spPr>
      </p:sp>
      <p:sp>
        <p:nvSpPr>
          <p:cNvPr id="30" name="Text 28"/>
          <p:cNvSpPr/>
          <p:nvPr/>
        </p:nvSpPr>
        <p:spPr>
          <a:xfrm>
            <a:off x="731520" y="5138928"/>
            <a:ext cx="65836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4A9E75"/>
                </a:solidFill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05</a:t>
            </a:r>
            <a:endParaRPr lang="en-US" sz="1600" dirty="0">
              <a:latin typeface="나눔스퀘어라운드 ExtraBold" panose="020B0600000101010101" pitchFamily="50" charset="-127"/>
              <a:ea typeface="나눔스퀘어라운드 ExtraBold" panose="020B0600000101010101" pitchFamily="50" charset="-127"/>
            </a:endParaRPr>
          </a:p>
        </p:txBody>
      </p:sp>
      <p:sp>
        <p:nvSpPr>
          <p:cNvPr id="31" name="Shape 29"/>
          <p:cNvSpPr/>
          <p:nvPr/>
        </p:nvSpPr>
        <p:spPr>
          <a:xfrm>
            <a:off x="1389888" y="4937760"/>
            <a:ext cx="36576" cy="749808"/>
          </a:xfrm>
          <a:prstGeom prst="rect">
            <a:avLst/>
          </a:prstGeom>
          <a:solidFill>
            <a:srgbClr val="4A9E75"/>
          </a:solidFill>
          <a:ln/>
        </p:spPr>
      </p:sp>
      <p:sp>
        <p:nvSpPr>
          <p:cNvPr id="32" name="Text 30"/>
          <p:cNvSpPr/>
          <p:nvPr/>
        </p:nvSpPr>
        <p:spPr>
          <a:xfrm>
            <a:off x="1554480" y="5138928"/>
            <a:ext cx="97200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dirty="0">
                <a:solidFill>
                  <a:srgbClr val="2C3A2E"/>
                </a:solidFill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기술 스택 및 개발 로드맵</a:t>
            </a:r>
            <a:endParaRPr lang="en-US" sz="1900" dirty="0">
              <a:latin typeface="나눔스퀘어라운드 ExtraBold" panose="020B0600000101010101" pitchFamily="50" charset="-127"/>
              <a:ea typeface="나눔스퀘어라운드 ExtraBold" panose="020B0600000101010101" pitchFamily="50" charset="-127"/>
            </a:endParaRPr>
          </a:p>
        </p:txBody>
      </p:sp>
      <p:sp>
        <p:nvSpPr>
          <p:cNvPr id="33" name="Shape 31"/>
          <p:cNvSpPr/>
          <p:nvPr/>
        </p:nvSpPr>
        <p:spPr>
          <a:xfrm>
            <a:off x="0" y="6309360"/>
            <a:ext cx="12188952" cy="548640"/>
          </a:xfrm>
          <a:prstGeom prst="rect">
            <a:avLst/>
          </a:prstGeom>
          <a:solidFill>
            <a:srgbClr val="2C3E35"/>
          </a:solidFill>
          <a:ln/>
        </p:spPr>
      </p:sp>
      <p:sp>
        <p:nvSpPr>
          <p:cNvPr id="34" name="Text 32"/>
          <p:cNvSpPr/>
          <p:nvPr/>
        </p:nvSpPr>
        <p:spPr>
          <a:xfrm>
            <a:off x="365760" y="6336792"/>
            <a:ext cx="114574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EFB"/>
                </a:solidFill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▶  문제 → 솔루션 → 이론 → 기능 → 기술 순서로 발표합니다</a:t>
            </a:r>
            <a:endParaRPr lang="en-US" sz="1500" dirty="0">
              <a:latin typeface="나눔스퀘어라운드 ExtraBold" panose="020B0600000101010101" pitchFamily="50" charset="-127"/>
              <a:ea typeface="나눔스퀘어라운드 ExtraBold" panose="020B0600000101010101" pitchFamily="50" charset="-127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EF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2C3E35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4A9E75"/>
          </a:solidFill>
          <a:ln/>
        </p:spPr>
      </p:sp>
      <p:sp>
        <p:nvSpPr>
          <p:cNvPr id="5" name="Text 3"/>
          <p:cNvSpPr/>
          <p:nvPr/>
        </p:nvSpPr>
        <p:spPr>
          <a:xfrm>
            <a:off x="365760" y="109728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ko-KR" altLang="en-US" sz="2800" b="1" dirty="0">
                <a:solidFill>
                  <a:srgbClr val="FFFEFB"/>
                </a:solidFill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  <a:cs typeface="Pretendard" pitchFamily="34" charset="-120"/>
              </a:rPr>
              <a:t>왜 지금 해야 하는가</a:t>
            </a:r>
            <a:r>
              <a:rPr lang="en-US" altLang="ko-KR" sz="2800" b="1" dirty="0">
                <a:solidFill>
                  <a:srgbClr val="FFFEFB"/>
                </a:solidFill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  <a:cs typeface="Pretendard" pitchFamily="34" charset="-120"/>
              </a:rPr>
              <a:t>?</a:t>
            </a:r>
            <a:endParaRPr lang="en-US" sz="2800" dirty="0">
              <a:latin typeface="나눔스퀘어라운드 ExtraBold" panose="020B0600000101010101" pitchFamily="50" charset="-127"/>
              <a:ea typeface="나눔스퀘어라운드 ExtraBold" panose="020B0600000101010101" pitchFamily="50" charset="-127"/>
            </a:endParaRPr>
          </a:p>
        </p:txBody>
      </p:sp>
      <p:sp>
        <p:nvSpPr>
          <p:cNvPr id="6" name="Text 4"/>
          <p:cNvSpPr/>
          <p:nvPr/>
        </p:nvSpPr>
        <p:spPr>
          <a:xfrm>
            <a:off x="365760" y="676656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A8C4B2"/>
                </a:solidFill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청소년 스마트폰 과몰입 현황</a:t>
            </a:r>
            <a:endParaRPr lang="en-US" sz="1500" dirty="0">
              <a:latin typeface="나눔스퀘어라운드 ExtraBold" panose="020B0600000101010101" pitchFamily="50" charset="-127"/>
              <a:ea typeface="나눔스퀘어라운드 ExtraBold" panose="020B0600000101010101" pitchFamily="50" charset="-127"/>
            </a:endParaRPr>
          </a:p>
        </p:txBody>
      </p:sp>
      <p:sp>
        <p:nvSpPr>
          <p:cNvPr id="7" name="Text 5"/>
          <p:cNvSpPr/>
          <p:nvPr/>
        </p:nvSpPr>
        <p:spPr>
          <a:xfrm>
            <a:off x="11430000" y="109728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400" dirty="0">
                <a:solidFill>
                  <a:srgbClr val="7A9E8A"/>
                </a:solidFill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03</a:t>
            </a:r>
            <a:endParaRPr lang="en-US" sz="1400" dirty="0">
              <a:latin typeface="나눔스퀘어라운드 ExtraBold" panose="020B0600000101010101" pitchFamily="50" charset="-127"/>
              <a:ea typeface="나눔스퀘어라운드 ExtraBold" panose="020B0600000101010101" pitchFamily="50" charset="-127"/>
            </a:endParaRPr>
          </a:p>
        </p:txBody>
      </p:sp>
      <p:sp>
        <p:nvSpPr>
          <p:cNvPr id="8" name="Shape 6"/>
          <p:cNvSpPr/>
          <p:nvPr/>
        </p:nvSpPr>
        <p:spPr>
          <a:xfrm>
            <a:off x="365760" y="1353312"/>
            <a:ext cx="3697224" cy="1828800"/>
          </a:xfrm>
          <a:prstGeom prst="rect">
            <a:avLst/>
          </a:prstGeom>
          <a:solidFill>
            <a:srgbClr val="FDECEA"/>
          </a:solidFill>
          <a:ln w="25400">
            <a:solidFill>
              <a:srgbClr val="B0303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1481328"/>
            <a:ext cx="3422904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B03030"/>
                </a:solidFill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40.1%</a:t>
            </a:r>
            <a:endParaRPr lang="en-US" sz="3600" dirty="0">
              <a:latin typeface="나눔스퀘어라운드 ExtraBold" panose="020B0600000101010101" pitchFamily="50" charset="-127"/>
              <a:ea typeface="나눔스퀘어라운드 ExtraBold" panose="020B0600000101010101" pitchFamily="50" charset="-127"/>
            </a:endParaRPr>
          </a:p>
        </p:txBody>
      </p:sp>
      <p:sp>
        <p:nvSpPr>
          <p:cNvPr id="10" name="Text 8"/>
          <p:cNvSpPr/>
          <p:nvPr/>
        </p:nvSpPr>
        <p:spPr>
          <a:xfrm>
            <a:off x="502920" y="2304288"/>
            <a:ext cx="342290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5C6B5E"/>
                </a:solidFill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청소년 스마트폰 과의존 위험군</a:t>
            </a:r>
            <a:endParaRPr lang="en-US" sz="1300" dirty="0">
              <a:latin typeface="나눔스퀘어라운드 ExtraBold" panose="020B0600000101010101" pitchFamily="50" charset="-127"/>
              <a:ea typeface="나눔스퀘어라운드 ExtraBold" panose="020B0600000101010101" pitchFamily="50" charset="-127"/>
            </a:endParaRPr>
          </a:p>
        </p:txBody>
      </p:sp>
      <p:sp>
        <p:nvSpPr>
          <p:cNvPr id="11" name="Text 9"/>
          <p:cNvSpPr/>
          <p:nvPr/>
        </p:nvSpPr>
        <p:spPr>
          <a:xfrm>
            <a:off x="502920" y="2798064"/>
            <a:ext cx="342290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2023 과기정통부 조사</a:t>
            </a:r>
          </a:p>
        </p:txBody>
      </p:sp>
      <p:sp>
        <p:nvSpPr>
          <p:cNvPr id="12" name="Shape 10"/>
          <p:cNvSpPr/>
          <p:nvPr/>
        </p:nvSpPr>
        <p:spPr>
          <a:xfrm>
            <a:off x="4245864" y="1353312"/>
            <a:ext cx="3697224" cy="1828800"/>
          </a:xfrm>
          <a:prstGeom prst="rect">
            <a:avLst/>
          </a:prstGeom>
          <a:solidFill>
            <a:srgbClr val="FDECEA"/>
          </a:solidFill>
          <a:ln w="25400">
            <a:solidFill>
              <a:srgbClr val="B0303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383024" y="1481328"/>
            <a:ext cx="3422904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B03030"/>
                </a:solidFill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4.2시간</a:t>
            </a:r>
            <a:endParaRPr lang="en-US" sz="3600" dirty="0">
              <a:latin typeface="나눔스퀘어라운드 ExtraBold" panose="020B0600000101010101" pitchFamily="50" charset="-127"/>
              <a:ea typeface="나눔스퀘어라운드 ExtraBold" panose="020B0600000101010101" pitchFamily="50" charset="-127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4383024" y="2304288"/>
            <a:ext cx="342290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5C6B5E"/>
                </a:solidFill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청소년 일평균 스마트폰 사용</a:t>
            </a:r>
            <a:endParaRPr lang="en-US" sz="1300" dirty="0">
              <a:latin typeface="나눔스퀘어라운드 ExtraBold" panose="020B0600000101010101" pitchFamily="50" charset="-127"/>
              <a:ea typeface="나눔스퀘어라운드 ExtraBold" panose="020B0600000101010101" pitchFamily="50" charset="-127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4383024" y="2798064"/>
            <a:ext cx="342290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성인 대비 1.3배</a:t>
            </a:r>
          </a:p>
        </p:txBody>
      </p:sp>
      <p:sp>
        <p:nvSpPr>
          <p:cNvPr id="16" name="Shape 14"/>
          <p:cNvSpPr/>
          <p:nvPr/>
        </p:nvSpPr>
        <p:spPr>
          <a:xfrm>
            <a:off x="8125968" y="1353312"/>
            <a:ext cx="3697224" cy="1828800"/>
          </a:xfrm>
          <a:prstGeom prst="rect">
            <a:avLst/>
          </a:prstGeom>
          <a:solidFill>
            <a:srgbClr val="FDECEA"/>
          </a:solidFill>
          <a:ln w="25400">
            <a:solidFill>
              <a:srgbClr val="B0303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263128" y="1481328"/>
            <a:ext cx="3422904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B03030"/>
                </a:solidFill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r = 0.68</a:t>
            </a:r>
            <a:endParaRPr lang="en-US" sz="3600" dirty="0">
              <a:latin typeface="나눔스퀘어라운드 ExtraBold" panose="020B0600000101010101" pitchFamily="50" charset="-127"/>
              <a:ea typeface="나눔스퀘어라운드 ExtraBold" panose="020B0600000101010101" pitchFamily="50" charset="-127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8263128" y="2304288"/>
            <a:ext cx="342290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5C6B5E"/>
                </a:solidFill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스마트폰 ↑ 우울·불안 ↑ 상관계수</a:t>
            </a:r>
            <a:endParaRPr lang="en-US" sz="1300" dirty="0">
              <a:latin typeface="나눔스퀘어라운드 ExtraBold" panose="020B0600000101010101" pitchFamily="50" charset="-127"/>
              <a:ea typeface="나눔스퀘어라운드 ExtraBold" panose="020B0600000101010101" pitchFamily="50" charset="-127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8263128" y="2798064"/>
            <a:ext cx="342290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통계적 유의 수준 p&lt;0.01</a:t>
            </a:r>
          </a:p>
        </p:txBody>
      </p:sp>
      <p:sp>
        <p:nvSpPr>
          <p:cNvPr id="20" name="Shape 18"/>
          <p:cNvSpPr/>
          <p:nvPr/>
        </p:nvSpPr>
        <p:spPr>
          <a:xfrm>
            <a:off x="365760" y="3291840"/>
            <a:ext cx="11457432" cy="2578608"/>
          </a:xfrm>
          <a:prstGeom prst="rect">
            <a:avLst/>
          </a:prstGeom>
          <a:solidFill>
            <a:srgbClr val="FAF8F2"/>
          </a:solidFill>
          <a:ln w="12700">
            <a:solidFill>
              <a:srgbClr val="DDD8C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65760" y="3291840"/>
            <a:ext cx="45720" cy="2578608"/>
          </a:xfrm>
          <a:prstGeom prst="rect">
            <a:avLst/>
          </a:prstGeom>
          <a:solidFill>
            <a:srgbClr val="B03030"/>
          </a:solidFill>
          <a:ln/>
        </p:spPr>
      </p:sp>
      <p:sp>
        <p:nvSpPr>
          <p:cNvPr id="22" name="Text 20"/>
          <p:cNvSpPr/>
          <p:nvPr/>
        </p:nvSpPr>
        <p:spPr>
          <a:xfrm>
            <a:off x="548640" y="3401568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B03030"/>
                </a:solidFill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주요 문제</a:t>
            </a:r>
            <a:endParaRPr lang="en-US" sz="1400" dirty="0">
              <a:latin typeface="나눔스퀘어라운드 ExtraBold" panose="020B0600000101010101" pitchFamily="50" charset="-127"/>
              <a:ea typeface="나눔스퀘어라운드 ExtraBold" panose="020B0600000101010101" pitchFamily="50" charset="-127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548640" y="3822192"/>
            <a:ext cx="1109167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5C6B5E"/>
                </a:solidFill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•  기존 면대면 상담은 접근성 제한 — 학교·가정에서 즉시 도움받기 어려움</a:t>
            </a:r>
            <a:endParaRPr lang="en-US" sz="1500" dirty="0">
              <a:latin typeface="나눔스퀘어라운드 ExtraBold" panose="020B0600000101010101" pitchFamily="50" charset="-127"/>
              <a:ea typeface="나눔스퀘어라운드 ExtraBold" panose="020B0600000101010101" pitchFamily="50" charset="-127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548640" y="4325112"/>
            <a:ext cx="1109167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5C6B5E"/>
                </a:solidFill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•  추상적 미래 설명으로는 청소년 행동 변화 동기 부여 효과 낮음</a:t>
            </a:r>
            <a:endParaRPr lang="en-US" sz="1500" dirty="0">
              <a:latin typeface="나눔스퀘어라운드 ExtraBold" panose="020B0600000101010101" pitchFamily="50" charset="-127"/>
              <a:ea typeface="나눔스퀘어라운드 ExtraBold" panose="020B0600000101010101" pitchFamily="50" charset="-127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548640" y="4828032"/>
            <a:ext cx="1109167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5C6B5E"/>
                </a:solidFill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•  스마트폰 사용 데이터·감정 변화 추이 체계적 모니터링 부재</a:t>
            </a:r>
            <a:endParaRPr lang="en-US" sz="1500" dirty="0">
              <a:latin typeface="나눔스퀘어라운드 ExtraBold" panose="020B0600000101010101" pitchFamily="50" charset="-127"/>
              <a:ea typeface="나눔스퀘어라운드 ExtraBold" panose="020B0600000101010101" pitchFamily="50" charset="-127"/>
            </a:endParaRPr>
          </a:p>
        </p:txBody>
      </p:sp>
      <p:sp>
        <p:nvSpPr>
          <p:cNvPr id="26" name="Text 24"/>
          <p:cNvSpPr/>
          <p:nvPr/>
        </p:nvSpPr>
        <p:spPr>
          <a:xfrm>
            <a:off x="548640" y="5330952"/>
            <a:ext cx="1109167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5C6B5E"/>
                </a:solidFill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•  위기 신호(자해·우울) 조기 발견 및 관리자 연계 시스템 없음</a:t>
            </a:r>
            <a:endParaRPr lang="en-US" sz="1500" dirty="0">
              <a:latin typeface="나눔스퀘어라운드 ExtraBold" panose="020B0600000101010101" pitchFamily="50" charset="-127"/>
              <a:ea typeface="나눔스퀘어라운드 ExtraBold" panose="020B0600000101010101" pitchFamily="50" charset="-127"/>
            </a:endParaRPr>
          </a:p>
        </p:txBody>
      </p:sp>
      <p:sp>
        <p:nvSpPr>
          <p:cNvPr id="27" name="Shape 25"/>
          <p:cNvSpPr/>
          <p:nvPr/>
        </p:nvSpPr>
        <p:spPr>
          <a:xfrm>
            <a:off x="0" y="6309360"/>
            <a:ext cx="12188952" cy="548640"/>
          </a:xfrm>
          <a:prstGeom prst="rect">
            <a:avLst/>
          </a:prstGeom>
          <a:solidFill>
            <a:srgbClr val="2C3E35"/>
          </a:solidFill>
          <a:ln/>
        </p:spPr>
      </p:sp>
      <p:sp>
        <p:nvSpPr>
          <p:cNvPr id="28" name="Text 26"/>
          <p:cNvSpPr/>
          <p:nvPr/>
        </p:nvSpPr>
        <p:spPr>
          <a:xfrm>
            <a:off x="365760" y="6336792"/>
            <a:ext cx="114574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EFB"/>
                </a:solidFill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▶  청소년 40% 이상이 위험군 — 접근성·동기·모니터링을 동시에 해결하는 새 솔루션이 필요하다</a:t>
            </a:r>
            <a:endParaRPr lang="en-US" sz="1500" dirty="0">
              <a:latin typeface="나눔스퀘어라운드 ExtraBold" panose="020B0600000101010101" pitchFamily="50" charset="-127"/>
              <a:ea typeface="나눔스퀘어라운드 ExtraBold" panose="020B0600000101010101" pitchFamily="50" charset="-127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EF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FAF8F2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4A9E75"/>
          </a:solidFill>
          <a:ln/>
        </p:spPr>
      </p:sp>
      <p:sp>
        <p:nvSpPr>
          <p:cNvPr id="5" name="Text 3"/>
          <p:cNvSpPr/>
          <p:nvPr/>
        </p:nvSpPr>
        <p:spPr>
          <a:xfrm>
            <a:off x="365760" y="164592"/>
            <a:ext cx="1109167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2C3A2E"/>
                </a:solidFill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기존 방식 vs 인터넷 드림마을</a:t>
            </a:r>
            <a:endParaRPr lang="en-US" sz="2600" dirty="0">
              <a:latin typeface="나눔스퀘어라운드 ExtraBold" panose="020B0600000101010101" pitchFamily="50" charset="-127"/>
              <a:ea typeface="나눔스퀘어라운드 ExtraBold" panose="020B0600000101010101" pitchFamily="50" charset="-127"/>
            </a:endParaRPr>
          </a:p>
        </p:txBody>
      </p:sp>
      <p:sp>
        <p:nvSpPr>
          <p:cNvPr id="6" name="Text 4"/>
          <p:cNvSpPr/>
          <p:nvPr/>
        </p:nvSpPr>
        <p:spPr>
          <a:xfrm>
            <a:off x="11430000" y="1828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00" dirty="0">
                <a:solidFill>
                  <a:srgbClr val="DDD8CC"/>
                </a:solidFill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04</a:t>
            </a:r>
            <a:endParaRPr lang="en-US" sz="1300" dirty="0">
              <a:latin typeface="나눔스퀘어라운드 ExtraBold" panose="020B0600000101010101" pitchFamily="50" charset="-127"/>
              <a:ea typeface="나눔스퀘어라운드 ExtraBold" panose="020B0600000101010101" pitchFamily="50" charset="-127"/>
            </a:endParaRPr>
          </a:p>
        </p:txBody>
      </p:sp>
      <p:sp>
        <p:nvSpPr>
          <p:cNvPr id="7" name="Shape 5"/>
          <p:cNvSpPr/>
          <p:nvPr/>
        </p:nvSpPr>
        <p:spPr>
          <a:xfrm>
            <a:off x="274320" y="960120"/>
            <a:ext cx="5669280" cy="4937760"/>
          </a:xfrm>
          <a:prstGeom prst="rect">
            <a:avLst/>
          </a:prstGeom>
          <a:solidFill>
            <a:srgbClr val="FDECEA"/>
          </a:solidFill>
          <a:ln w="25400">
            <a:solidFill>
              <a:srgbClr val="B0303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74320" y="960120"/>
            <a:ext cx="5669280" cy="475488"/>
          </a:xfrm>
          <a:prstGeom prst="rect">
            <a:avLst/>
          </a:prstGeom>
          <a:solidFill>
            <a:srgbClr val="B03030"/>
          </a:solidFill>
          <a:ln/>
        </p:spPr>
      </p:sp>
      <p:sp>
        <p:nvSpPr>
          <p:cNvPr id="9" name="Text 7"/>
          <p:cNvSpPr/>
          <p:nvPr/>
        </p:nvSpPr>
        <p:spPr>
          <a:xfrm>
            <a:off x="411480" y="987552"/>
            <a:ext cx="53949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EFB"/>
                </a:solidFill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😟  기존 상담 방식의 한계</a:t>
            </a:r>
            <a:endParaRPr lang="en-US" sz="1600" dirty="0">
              <a:latin typeface="나눔스퀘어라운드 ExtraBold" panose="020B0600000101010101" pitchFamily="50" charset="-127"/>
              <a:ea typeface="나눔스퀘어라운드 ExtraBold" panose="020B0600000101010101" pitchFamily="50" charset="-127"/>
            </a:endParaRPr>
          </a:p>
        </p:txBody>
      </p:sp>
      <p:sp>
        <p:nvSpPr>
          <p:cNvPr id="10" name="Text 8"/>
          <p:cNvSpPr/>
          <p:nvPr/>
        </p:nvSpPr>
        <p:spPr>
          <a:xfrm>
            <a:off x="411480" y="1508760"/>
            <a:ext cx="5394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C6B5E"/>
                </a:solidFill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면대면 중심 상담 · 제한된 접근성</a:t>
            </a:r>
            <a:endParaRPr lang="en-US" sz="1200" dirty="0">
              <a:latin typeface="나눔스퀘어라운드 ExtraBold" panose="020B0600000101010101" pitchFamily="50" charset="-127"/>
              <a:ea typeface="나눔스퀘어라운드 ExtraBold" panose="020B0600000101010101" pitchFamily="50" charset="-127"/>
            </a:endParaRPr>
          </a:p>
        </p:txBody>
      </p:sp>
      <p:sp>
        <p:nvSpPr>
          <p:cNvPr id="11" name="Text 9"/>
          <p:cNvSpPr/>
          <p:nvPr/>
        </p:nvSpPr>
        <p:spPr>
          <a:xfrm>
            <a:off x="457200" y="1938528"/>
            <a:ext cx="53035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C6B5E"/>
                </a:solidFill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✕  면대면 상담 → 시간·장소 제약, 접근성 낮음</a:t>
            </a:r>
            <a:endParaRPr lang="en-US" sz="1400" dirty="0">
              <a:latin typeface="나눔스퀘어라운드 ExtraBold" panose="020B0600000101010101" pitchFamily="50" charset="-127"/>
              <a:ea typeface="나눔스퀘어라운드 ExtraBold" panose="020B0600000101010101" pitchFamily="50" charset="-127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457200" y="2414016"/>
            <a:ext cx="53035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C6B5E"/>
                </a:solidFill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✕  추상적 미래 설명 → 동기 부여 효과 미미</a:t>
            </a:r>
            <a:endParaRPr lang="en-US" sz="1400" dirty="0">
              <a:latin typeface="나눔스퀘어라운드 ExtraBold" panose="020B0600000101010101" pitchFamily="50" charset="-127"/>
              <a:ea typeface="나눔스퀘어라운드 ExtraBold" panose="020B0600000101010101" pitchFamily="50" charset="-127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457200" y="2889504"/>
            <a:ext cx="53035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C6B5E"/>
                </a:solidFill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✕  감정·행동 데이터 체계적 수집 불가</a:t>
            </a:r>
            <a:endParaRPr lang="en-US" sz="1400" dirty="0">
              <a:latin typeface="나눔스퀘어라운드 ExtraBold" panose="020B0600000101010101" pitchFamily="50" charset="-127"/>
              <a:ea typeface="나눔스퀘어라운드 ExtraBold" panose="020B0600000101010101" pitchFamily="50" charset="-127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457200" y="3364992"/>
            <a:ext cx="53035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C6B5E"/>
                </a:solidFill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✕  위기 신호 조기 감지 시스템 부재</a:t>
            </a:r>
            <a:endParaRPr lang="en-US" sz="1400" dirty="0">
              <a:latin typeface="나눔스퀘어라운드 ExtraBold" panose="020B0600000101010101" pitchFamily="50" charset="-127"/>
              <a:ea typeface="나눔스퀘어라운드 ExtraBold" panose="020B0600000101010101" pitchFamily="50" charset="-127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457200" y="3840480"/>
            <a:ext cx="53035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C6B5E"/>
                </a:solidFill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✕  관리자·상담사 개별 확인에 과도한 시간 소요</a:t>
            </a:r>
            <a:endParaRPr lang="en-US" sz="1400" dirty="0">
              <a:latin typeface="나눔스퀘어라운드 ExtraBold" panose="020B0600000101010101" pitchFamily="50" charset="-127"/>
              <a:ea typeface="나눔스퀘어라운드 ExtraBold" panose="020B0600000101010101" pitchFamily="50" charset="-127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365760" y="4434840"/>
            <a:ext cx="5486400" cy="457200"/>
          </a:xfrm>
          <a:prstGeom prst="rect">
            <a:avLst/>
          </a:prstGeom>
          <a:solidFill>
            <a:srgbClr val="F0B8B0"/>
          </a:solidFill>
          <a:ln w="12700">
            <a:solidFill>
              <a:srgbClr val="B0303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02920" y="4471416"/>
            <a:ext cx="5212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C3A2E"/>
                </a:solidFill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⚠  변화 추이 파악 어렵고, 위기 대응 지연</a:t>
            </a:r>
            <a:endParaRPr lang="en-US" sz="1300" dirty="0">
              <a:latin typeface="나눔스퀘어라운드 ExtraBold" panose="020B0600000101010101" pitchFamily="50" charset="-127"/>
              <a:ea typeface="나눔스퀘어라운드 ExtraBold" panose="020B0600000101010101" pitchFamily="50" charset="-127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6245352" y="960120"/>
            <a:ext cx="5669280" cy="4937760"/>
          </a:xfrm>
          <a:prstGeom prst="rect">
            <a:avLst/>
          </a:prstGeom>
          <a:solidFill>
            <a:srgbClr val="E8F5EE"/>
          </a:solidFill>
          <a:ln w="25400">
            <a:solidFill>
              <a:srgbClr val="4A9E75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245352" y="960120"/>
            <a:ext cx="5669280" cy="475488"/>
          </a:xfrm>
          <a:prstGeom prst="rect">
            <a:avLst/>
          </a:prstGeom>
          <a:solidFill>
            <a:srgbClr val="4A9E75"/>
          </a:solidFill>
          <a:ln/>
        </p:spPr>
      </p:sp>
      <p:sp>
        <p:nvSpPr>
          <p:cNvPr id="20" name="Text 18"/>
          <p:cNvSpPr/>
          <p:nvPr/>
        </p:nvSpPr>
        <p:spPr>
          <a:xfrm>
            <a:off x="6382512" y="987552"/>
            <a:ext cx="53949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EFB"/>
                </a:solidFill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🌳  인터넷 드림마을</a:t>
            </a:r>
            <a:endParaRPr lang="en-US" sz="1600" dirty="0">
              <a:latin typeface="나눔스퀘어라운드 ExtraBold" panose="020B0600000101010101" pitchFamily="50" charset="-127"/>
              <a:ea typeface="나눔스퀘어라운드 ExtraBold" panose="020B0600000101010101" pitchFamily="50" charset="-127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6382512" y="1508760"/>
            <a:ext cx="5394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C6B5E"/>
                </a:solidFill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언제 어디서나 · AI가 함께하는 상담</a:t>
            </a:r>
            <a:endParaRPr lang="en-US" sz="1200" dirty="0">
              <a:latin typeface="나눔스퀘어라운드 ExtraBold" panose="020B0600000101010101" pitchFamily="50" charset="-127"/>
              <a:ea typeface="나눔스퀘어라운드 ExtraBold" panose="020B0600000101010101" pitchFamily="50" charset="-127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6400800" y="1938528"/>
            <a:ext cx="53035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C3A2E"/>
                </a:solidFill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✔  웹앱 — 스마트폰·PC 어디서나 즉시 접근</a:t>
            </a:r>
            <a:endParaRPr lang="en-US" sz="1400" dirty="0">
              <a:latin typeface="나눔스퀘어라운드 ExtraBold" panose="020B0600000101010101" pitchFamily="50" charset="-127"/>
              <a:ea typeface="나눔스퀘어라운드 ExtraBold" panose="020B0600000101010101" pitchFamily="50" charset="-127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6400800" y="2414016"/>
            <a:ext cx="53035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C3A2E"/>
                </a:solidFill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✔  AI 이미지로 미래를 현재처럼 생생하게 체감</a:t>
            </a:r>
            <a:endParaRPr lang="en-US" sz="1400" dirty="0">
              <a:latin typeface="나눔스퀘어라운드 ExtraBold" panose="020B0600000101010101" pitchFamily="50" charset="-127"/>
              <a:ea typeface="나눔스퀘어라운드 ExtraBold" panose="020B0600000101010101" pitchFamily="50" charset="-127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6400800" y="2889504"/>
            <a:ext cx="53035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C3A2E"/>
                </a:solidFill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✔  마음일기·자가진단 데이터 자동 추적·시각화</a:t>
            </a:r>
            <a:endParaRPr lang="en-US" sz="1400" dirty="0">
              <a:latin typeface="나눔스퀘어라운드 ExtraBold" panose="020B0600000101010101" pitchFamily="50" charset="-127"/>
              <a:ea typeface="나눔스퀘어라운드 ExtraBold" panose="020B0600000101010101" pitchFamily="50" charset="-127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6400800" y="3364992"/>
            <a:ext cx="53035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C3A2E"/>
                </a:solidFill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✔  실시간 위기 신호 감지 + 관리자 즉시 알림</a:t>
            </a:r>
            <a:endParaRPr lang="en-US" sz="1400" dirty="0">
              <a:latin typeface="나눔스퀘어라운드 ExtraBold" panose="020B0600000101010101" pitchFamily="50" charset="-127"/>
              <a:ea typeface="나눔스퀘어라운드 ExtraBold" panose="020B0600000101010101" pitchFamily="50" charset="-127"/>
            </a:endParaRPr>
          </a:p>
        </p:txBody>
      </p:sp>
      <p:sp>
        <p:nvSpPr>
          <p:cNvPr id="26" name="Text 24"/>
          <p:cNvSpPr/>
          <p:nvPr/>
        </p:nvSpPr>
        <p:spPr>
          <a:xfrm>
            <a:off x="6400800" y="3840480"/>
            <a:ext cx="53035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C3A2E"/>
                </a:solidFill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✔  관리자 대시보드로 전체 학생 현황 한눈에</a:t>
            </a:r>
            <a:endParaRPr lang="en-US" sz="1400" dirty="0">
              <a:latin typeface="나눔스퀘어라운드 ExtraBold" panose="020B0600000101010101" pitchFamily="50" charset="-127"/>
              <a:ea typeface="나눔스퀘어라운드 ExtraBold" panose="020B0600000101010101" pitchFamily="50" charset="-127"/>
            </a:endParaRPr>
          </a:p>
        </p:txBody>
      </p:sp>
      <p:sp>
        <p:nvSpPr>
          <p:cNvPr id="27" name="Shape 25"/>
          <p:cNvSpPr/>
          <p:nvPr/>
        </p:nvSpPr>
        <p:spPr>
          <a:xfrm>
            <a:off x="6336792" y="4434840"/>
            <a:ext cx="5486400" cy="457200"/>
          </a:xfrm>
          <a:prstGeom prst="rect">
            <a:avLst/>
          </a:prstGeom>
          <a:solidFill>
            <a:srgbClr val="C4E0CF"/>
          </a:solidFill>
          <a:ln w="12700">
            <a:solidFill>
              <a:srgbClr val="4A9E75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473952" y="4471416"/>
            <a:ext cx="5212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C3A2E"/>
                </a:solidFill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🏆  데이터 기반 과학적 개입 + 즉각 대응</a:t>
            </a:r>
            <a:endParaRPr lang="en-US" sz="1300" dirty="0">
              <a:latin typeface="나눔스퀘어라운드 ExtraBold" panose="020B0600000101010101" pitchFamily="50" charset="-127"/>
              <a:ea typeface="나눔스퀘어라운드 ExtraBold" panose="020B0600000101010101" pitchFamily="50" charset="-127"/>
            </a:endParaRPr>
          </a:p>
        </p:txBody>
      </p:sp>
      <p:sp>
        <p:nvSpPr>
          <p:cNvPr id="29" name="Shape 27"/>
          <p:cNvSpPr/>
          <p:nvPr/>
        </p:nvSpPr>
        <p:spPr>
          <a:xfrm>
            <a:off x="5779008" y="2852928"/>
            <a:ext cx="630936" cy="630936"/>
          </a:xfrm>
          <a:prstGeom prst="ellipse">
            <a:avLst/>
          </a:prstGeom>
          <a:solidFill>
            <a:srgbClr val="FAF8F2"/>
          </a:solidFill>
          <a:ln w="25400">
            <a:solidFill>
              <a:srgbClr val="DDD8CC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669280" y="2985516"/>
            <a:ext cx="8503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C3A2E"/>
                </a:solidFill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VS</a:t>
            </a:r>
            <a:endParaRPr lang="en-US" sz="1600" dirty="0">
              <a:latin typeface="나눔스퀘어라운드 ExtraBold" panose="020B0600000101010101" pitchFamily="50" charset="-127"/>
              <a:ea typeface="나눔스퀘어라운드 ExtraBold" panose="020B0600000101010101" pitchFamily="50" charset="-127"/>
            </a:endParaRPr>
          </a:p>
        </p:txBody>
      </p:sp>
      <p:sp>
        <p:nvSpPr>
          <p:cNvPr id="31" name="Shape 29"/>
          <p:cNvSpPr/>
          <p:nvPr/>
        </p:nvSpPr>
        <p:spPr>
          <a:xfrm>
            <a:off x="0" y="5989320"/>
            <a:ext cx="12188952" cy="868680"/>
          </a:xfrm>
          <a:prstGeom prst="rect">
            <a:avLst/>
          </a:prstGeom>
          <a:solidFill>
            <a:srgbClr val="2C3E35"/>
          </a:solidFill>
          <a:ln/>
        </p:spPr>
      </p:sp>
      <p:sp>
        <p:nvSpPr>
          <p:cNvPr id="32" name="Text 30"/>
          <p:cNvSpPr/>
          <p:nvPr/>
        </p:nvSpPr>
        <p:spPr>
          <a:xfrm>
            <a:off x="274320" y="6035040"/>
            <a:ext cx="56692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EFB"/>
                </a:solidFill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기존 방식은 '사람'이 직접 모든 것을 </a:t>
            </a:r>
            <a:r>
              <a:rPr lang="en-US" sz="1300" b="1" dirty="0" err="1">
                <a:solidFill>
                  <a:srgbClr val="FFFEFB"/>
                </a:solidFill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관리</a:t>
            </a:r>
            <a:r>
              <a:rPr lang="en-US" sz="1300" b="1" dirty="0">
                <a:solidFill>
                  <a:srgbClr val="FFFEFB"/>
                </a:solidFill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  </a:t>
            </a:r>
          </a:p>
          <a:p>
            <a:pPr marL="0" indent="0" algn="ctr">
              <a:buNone/>
            </a:pPr>
            <a:r>
              <a:rPr lang="en-US" sz="1300" b="1" dirty="0" err="1">
                <a:solidFill>
                  <a:srgbClr val="FFFEFB"/>
                </a:solidFill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접근성·지속성·데이터</a:t>
            </a:r>
            <a:r>
              <a:rPr lang="en-US" sz="1300" b="1" dirty="0">
                <a:solidFill>
                  <a:srgbClr val="FFFEFB"/>
                </a:solidFill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 모두 한계</a:t>
            </a:r>
            <a:endParaRPr lang="en-US" sz="1300" dirty="0">
              <a:latin typeface="나눔스퀘어라운드 ExtraBold" panose="020B0600000101010101" pitchFamily="50" charset="-127"/>
              <a:ea typeface="나눔스퀘어라운드 ExtraBold" panose="020B0600000101010101" pitchFamily="50" charset="-127"/>
            </a:endParaRPr>
          </a:p>
        </p:txBody>
      </p:sp>
      <p:sp>
        <p:nvSpPr>
          <p:cNvPr id="33" name="Text 31"/>
          <p:cNvSpPr/>
          <p:nvPr/>
        </p:nvSpPr>
        <p:spPr>
          <a:xfrm>
            <a:off x="5305044" y="6263640"/>
            <a:ext cx="15819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7A9E8A"/>
                </a:solidFill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← 핵심 차이 →</a:t>
            </a:r>
            <a:endParaRPr lang="en-US" sz="1200" dirty="0">
              <a:latin typeface="나눔스퀘어라운드 ExtraBold" panose="020B0600000101010101" pitchFamily="50" charset="-127"/>
              <a:ea typeface="나눔스퀘어라운드 ExtraBold" panose="020B0600000101010101" pitchFamily="50" charset="-127"/>
            </a:endParaRPr>
          </a:p>
        </p:txBody>
      </p:sp>
      <p:sp>
        <p:nvSpPr>
          <p:cNvPr id="34" name="Text 32"/>
          <p:cNvSpPr/>
          <p:nvPr/>
        </p:nvSpPr>
        <p:spPr>
          <a:xfrm>
            <a:off x="6245352" y="6217920"/>
            <a:ext cx="5669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EFB"/>
                </a:solidFill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드림마을은 'AI'가 24/7 </a:t>
            </a:r>
            <a:r>
              <a:rPr lang="en-US" sz="1300" b="1" dirty="0" err="1">
                <a:solidFill>
                  <a:srgbClr val="FFFEFB"/>
                </a:solidFill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함께한다</a:t>
            </a:r>
            <a:r>
              <a:rPr lang="en-US" sz="1300" b="1" dirty="0">
                <a:solidFill>
                  <a:srgbClr val="FFFEFB"/>
                </a:solidFill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 </a:t>
            </a:r>
          </a:p>
          <a:p>
            <a:pPr marL="0" indent="0" algn="ctr">
              <a:buNone/>
            </a:pPr>
            <a:r>
              <a:rPr lang="en-US" sz="1300" b="1" dirty="0" err="1">
                <a:solidFill>
                  <a:srgbClr val="FFFEFB"/>
                </a:solidFill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과학적</a:t>
            </a:r>
            <a:r>
              <a:rPr lang="en-US" sz="1300" b="1" dirty="0">
                <a:solidFill>
                  <a:srgbClr val="FFFEFB"/>
                </a:solidFill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 개입 + 실시간 위기 대응</a:t>
            </a:r>
            <a:endParaRPr lang="en-US" sz="1300" dirty="0">
              <a:latin typeface="나눔스퀘어라운드 ExtraBold" panose="020B0600000101010101" pitchFamily="50" charset="-127"/>
              <a:ea typeface="나눔스퀘어라운드 ExtraBold" panose="020B0600000101010101" pitchFamily="50" charset="-127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EF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2C3E35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4A9E75"/>
          </a:solidFill>
          <a:ln/>
        </p:spPr>
      </p:sp>
      <p:sp>
        <p:nvSpPr>
          <p:cNvPr id="5" name="Text 3"/>
          <p:cNvSpPr/>
          <p:nvPr/>
        </p:nvSpPr>
        <p:spPr>
          <a:xfrm>
            <a:off x="365760" y="109728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EFB"/>
                </a:solidFill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  <a:cs typeface="Pretendard" pitchFamily="34" charset="-120"/>
              </a:rPr>
              <a:t>핵심 이론 배경</a:t>
            </a:r>
            <a:endParaRPr lang="en-US" sz="2800" dirty="0">
              <a:latin typeface="나눔스퀘어라운드 ExtraBold" panose="020B0600000101010101" pitchFamily="50" charset="-127"/>
              <a:ea typeface="나눔스퀘어라운드 ExtraBold" panose="020B0600000101010101" pitchFamily="50" charset="-127"/>
            </a:endParaRPr>
          </a:p>
        </p:txBody>
      </p:sp>
      <p:sp>
        <p:nvSpPr>
          <p:cNvPr id="6" name="Text 4"/>
          <p:cNvSpPr/>
          <p:nvPr/>
        </p:nvSpPr>
        <p:spPr>
          <a:xfrm>
            <a:off x="365760" y="676656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A8C4B2"/>
                </a:solidFill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EFT · CIREF · 지연 할인 극복 — 3가지 과학적 근거</a:t>
            </a:r>
            <a:endParaRPr lang="en-US" sz="1500" dirty="0">
              <a:latin typeface="나눔스퀘어라운드 ExtraBold" panose="020B0600000101010101" pitchFamily="50" charset="-127"/>
              <a:ea typeface="나눔스퀘어라운드 ExtraBold" panose="020B0600000101010101" pitchFamily="50" charset="-127"/>
            </a:endParaRPr>
          </a:p>
        </p:txBody>
      </p:sp>
      <p:sp>
        <p:nvSpPr>
          <p:cNvPr id="7" name="Text 5"/>
          <p:cNvSpPr/>
          <p:nvPr/>
        </p:nvSpPr>
        <p:spPr>
          <a:xfrm>
            <a:off x="11430000" y="109728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400" dirty="0">
                <a:solidFill>
                  <a:srgbClr val="7A9E8A"/>
                </a:solidFill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05</a:t>
            </a:r>
            <a:endParaRPr lang="en-US" sz="1400" dirty="0">
              <a:latin typeface="나눔스퀘어라운드 ExtraBold" panose="020B0600000101010101" pitchFamily="50" charset="-127"/>
              <a:ea typeface="나눔스퀘어라운드 ExtraBold" panose="020B0600000101010101" pitchFamily="50" charset="-127"/>
            </a:endParaRPr>
          </a:p>
        </p:txBody>
      </p:sp>
      <p:sp>
        <p:nvSpPr>
          <p:cNvPr id="8" name="Shape 6"/>
          <p:cNvSpPr/>
          <p:nvPr/>
        </p:nvSpPr>
        <p:spPr>
          <a:xfrm>
            <a:off x="365760" y="1261872"/>
            <a:ext cx="3697224" cy="4645152"/>
          </a:xfrm>
          <a:prstGeom prst="rect">
            <a:avLst/>
          </a:prstGeom>
          <a:solidFill>
            <a:srgbClr val="FFFEFB"/>
          </a:solidFill>
          <a:ln w="12700">
            <a:solidFill>
              <a:srgbClr val="DDD8C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65760" y="1261872"/>
            <a:ext cx="3697224" cy="45720"/>
          </a:xfrm>
          <a:prstGeom prst="rect">
            <a:avLst/>
          </a:prstGeom>
          <a:solidFill>
            <a:srgbClr val="4A9E75"/>
          </a:solidFill>
          <a:ln/>
        </p:spPr>
      </p:sp>
      <p:sp>
        <p:nvSpPr>
          <p:cNvPr id="10" name="Shape 8"/>
          <p:cNvSpPr/>
          <p:nvPr/>
        </p:nvSpPr>
        <p:spPr>
          <a:xfrm>
            <a:off x="502920" y="1353312"/>
            <a:ext cx="411480" cy="411480"/>
          </a:xfrm>
          <a:prstGeom prst="ellipse">
            <a:avLst/>
          </a:prstGeom>
          <a:solidFill>
            <a:srgbClr val="4A9E75"/>
          </a:solidFill>
          <a:ln/>
        </p:spPr>
      </p:sp>
      <p:sp>
        <p:nvSpPr>
          <p:cNvPr id="11" name="Text 9"/>
          <p:cNvSpPr/>
          <p:nvPr/>
        </p:nvSpPr>
        <p:spPr>
          <a:xfrm>
            <a:off x="502920" y="1421892"/>
            <a:ext cx="411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EFB"/>
                </a:solidFill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1</a:t>
            </a:r>
            <a:endParaRPr lang="en-US" sz="1400" dirty="0">
              <a:latin typeface="나눔스퀘어라운드 ExtraBold" panose="020B0600000101010101" pitchFamily="50" charset="-127"/>
              <a:ea typeface="나눔스퀘어라운드 ExtraBold" panose="020B0600000101010101" pitchFamily="50" charset="-127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1848612" y="1399032"/>
            <a:ext cx="731520" cy="731520"/>
          </a:xfrm>
          <a:prstGeom prst="ellipse">
            <a:avLst/>
          </a:prstGeom>
          <a:solidFill>
            <a:srgbClr val="E8F5EE"/>
          </a:solidFill>
          <a:ln/>
        </p:spPr>
      </p:sp>
      <p:sp>
        <p:nvSpPr>
          <p:cNvPr id="13" name="Text 11"/>
          <p:cNvSpPr/>
          <p:nvPr/>
        </p:nvSpPr>
        <p:spPr>
          <a:xfrm>
            <a:off x="1848612" y="1490472"/>
            <a:ext cx="731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🧠</a:t>
            </a:r>
            <a:endParaRPr lang="en-US" sz="2400" dirty="0">
              <a:latin typeface="나눔스퀘어라운드 ExtraBold" panose="020B0600000101010101" pitchFamily="50" charset="-127"/>
              <a:ea typeface="나눔스퀘어라운드 ExtraBold" panose="020B0600000101010101" pitchFamily="50" charset="-127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457200" y="2221992"/>
            <a:ext cx="351434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4A9E75"/>
                </a:solidFill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EFT</a:t>
            </a:r>
            <a:endParaRPr lang="en-US" sz="1700" dirty="0">
              <a:latin typeface="나눔스퀘어라운드 ExtraBold" panose="020B0600000101010101" pitchFamily="50" charset="-127"/>
              <a:ea typeface="나눔스퀘어라운드 ExtraBold" panose="020B0600000101010101" pitchFamily="50" charset="-127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457200" y="2587752"/>
            <a:ext cx="351434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Episodic Future Thinking</a:t>
            </a:r>
          </a:p>
        </p:txBody>
      </p:sp>
      <p:sp>
        <p:nvSpPr>
          <p:cNvPr id="16" name="Text 14"/>
          <p:cNvSpPr/>
          <p:nvPr/>
        </p:nvSpPr>
        <p:spPr>
          <a:xfrm>
            <a:off x="457200" y="2880360"/>
            <a:ext cx="351434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C6B5E"/>
                </a:solidFill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추상적 미래를 구체적 에피소드로 변환</a:t>
            </a:r>
            <a:endParaRPr lang="en-US" sz="1200" dirty="0">
              <a:latin typeface="나눔스퀘어라운드 ExtraBold" panose="020B0600000101010101" pitchFamily="50" charset="-127"/>
              <a:ea typeface="나눔스퀘어라운드 ExtraBold" panose="020B0600000101010101" pitchFamily="50" charset="-127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548640" y="3255264"/>
            <a:ext cx="3331464" cy="0"/>
          </a:xfrm>
          <a:prstGeom prst="line">
            <a:avLst/>
          </a:prstGeom>
          <a:noFill/>
          <a:ln w="12700">
            <a:solidFill>
              <a:srgbClr val="DDD8C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2920" y="3346704"/>
            <a:ext cx="342290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C3A2E"/>
                </a:solidFill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🔬  뇌과학 근거</a:t>
            </a:r>
            <a:endParaRPr lang="en-US" sz="1300" dirty="0">
              <a:latin typeface="나눔스퀘어라운드 ExtraBold" panose="020B0600000101010101" pitchFamily="50" charset="-127"/>
              <a:ea typeface="나눔스퀘어라운드 ExtraBold" panose="020B0600000101010101" pitchFamily="50" charset="-127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502920" y="3602736"/>
            <a:ext cx="342290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C6B5E"/>
                </a:solidFill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도파민 보상 회로를 건강하게 재공고화</a:t>
            </a:r>
            <a:endParaRPr lang="en-US" sz="1100" dirty="0">
              <a:latin typeface="나눔스퀘어라운드 ExtraBold" panose="020B0600000101010101" pitchFamily="50" charset="-127"/>
              <a:ea typeface="나눔스퀘어라운드 ExtraBold" panose="020B0600000101010101" pitchFamily="50" charset="-127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502920" y="4005072"/>
            <a:ext cx="342290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C3A2E"/>
                </a:solidFill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📸  에피소드화</a:t>
            </a:r>
            <a:endParaRPr lang="en-US" sz="1300" dirty="0">
              <a:latin typeface="나눔스퀘어라운드 ExtraBold" panose="020B0600000101010101" pitchFamily="50" charset="-127"/>
              <a:ea typeface="나눔스퀘어라운드 ExtraBold" panose="020B0600000101010101" pitchFamily="50" charset="-127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502920" y="4261104"/>
            <a:ext cx="342290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C6B5E"/>
                </a:solidFill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구체적 장면·감각·감정으로 미래를 그림</a:t>
            </a:r>
            <a:endParaRPr lang="en-US" sz="1100" dirty="0">
              <a:latin typeface="나눔스퀘어라운드 ExtraBold" panose="020B0600000101010101" pitchFamily="50" charset="-127"/>
              <a:ea typeface="나눔스퀘어라운드 ExtraBold" panose="020B0600000101010101" pitchFamily="50" charset="-127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502920" y="4663440"/>
            <a:ext cx="342290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C3A2E"/>
                </a:solidFill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⚡  행동 변화</a:t>
            </a:r>
            <a:endParaRPr lang="en-US" sz="1300" dirty="0">
              <a:latin typeface="나눔스퀘어라운드 ExtraBold" panose="020B0600000101010101" pitchFamily="50" charset="-127"/>
              <a:ea typeface="나눔스퀘어라운드 ExtraBold" panose="020B0600000101010101" pitchFamily="50" charset="-127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502920" y="4919472"/>
            <a:ext cx="342290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C6B5E"/>
                </a:solidFill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먼 미래 보상을 현재처럼 가깝게 체감</a:t>
            </a:r>
            <a:endParaRPr lang="en-US" sz="1100" dirty="0">
              <a:latin typeface="나눔스퀘어라운드 ExtraBold" panose="020B0600000101010101" pitchFamily="50" charset="-127"/>
              <a:ea typeface="나눔스퀘어라운드 ExtraBold" panose="020B0600000101010101" pitchFamily="50" charset="-127"/>
            </a:endParaRPr>
          </a:p>
        </p:txBody>
      </p:sp>
      <p:sp>
        <p:nvSpPr>
          <p:cNvPr id="24" name="Shape 22"/>
          <p:cNvSpPr/>
          <p:nvPr/>
        </p:nvSpPr>
        <p:spPr>
          <a:xfrm>
            <a:off x="4245864" y="1261872"/>
            <a:ext cx="3697224" cy="4645152"/>
          </a:xfrm>
          <a:prstGeom prst="rect">
            <a:avLst/>
          </a:prstGeom>
          <a:solidFill>
            <a:srgbClr val="FFFEFB"/>
          </a:solidFill>
          <a:ln w="12700">
            <a:solidFill>
              <a:srgbClr val="DDD8C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245864" y="1261872"/>
            <a:ext cx="3697224" cy="45720"/>
          </a:xfrm>
          <a:prstGeom prst="rect">
            <a:avLst/>
          </a:prstGeom>
          <a:solidFill>
            <a:srgbClr val="5B6FAD"/>
          </a:solidFill>
          <a:ln/>
        </p:spPr>
      </p:sp>
      <p:sp>
        <p:nvSpPr>
          <p:cNvPr id="26" name="Shape 24"/>
          <p:cNvSpPr/>
          <p:nvPr/>
        </p:nvSpPr>
        <p:spPr>
          <a:xfrm>
            <a:off x="4383024" y="1353312"/>
            <a:ext cx="411480" cy="411480"/>
          </a:xfrm>
          <a:prstGeom prst="ellipse">
            <a:avLst/>
          </a:prstGeom>
          <a:solidFill>
            <a:srgbClr val="5B6FAD"/>
          </a:solidFill>
          <a:ln/>
        </p:spPr>
      </p:sp>
      <p:sp>
        <p:nvSpPr>
          <p:cNvPr id="27" name="Text 25"/>
          <p:cNvSpPr/>
          <p:nvPr/>
        </p:nvSpPr>
        <p:spPr>
          <a:xfrm>
            <a:off x="4383024" y="1421892"/>
            <a:ext cx="411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EFB"/>
                </a:solidFill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2</a:t>
            </a:r>
            <a:endParaRPr lang="en-US" sz="1400" dirty="0">
              <a:latin typeface="나눔스퀘어라운드 ExtraBold" panose="020B0600000101010101" pitchFamily="50" charset="-127"/>
              <a:ea typeface="나눔스퀘어라운드 ExtraBold" panose="020B0600000101010101" pitchFamily="50" charset="-127"/>
            </a:endParaRPr>
          </a:p>
        </p:txBody>
      </p:sp>
      <p:sp>
        <p:nvSpPr>
          <p:cNvPr id="28" name="Shape 26"/>
          <p:cNvSpPr/>
          <p:nvPr/>
        </p:nvSpPr>
        <p:spPr>
          <a:xfrm>
            <a:off x="5728716" y="1399032"/>
            <a:ext cx="731520" cy="731520"/>
          </a:xfrm>
          <a:prstGeom prst="ellipse">
            <a:avLst/>
          </a:prstGeom>
          <a:solidFill>
            <a:srgbClr val="EEF0FA"/>
          </a:solidFill>
          <a:ln/>
        </p:spPr>
      </p:sp>
      <p:sp>
        <p:nvSpPr>
          <p:cNvPr id="29" name="Text 27"/>
          <p:cNvSpPr/>
          <p:nvPr/>
        </p:nvSpPr>
        <p:spPr>
          <a:xfrm>
            <a:off x="5728716" y="1490472"/>
            <a:ext cx="731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🔄</a:t>
            </a:r>
            <a:endParaRPr lang="en-US" sz="2400" dirty="0">
              <a:latin typeface="나눔스퀘어라운드 ExtraBold" panose="020B0600000101010101" pitchFamily="50" charset="-127"/>
              <a:ea typeface="나눔스퀘어라운드 ExtraBold" panose="020B0600000101010101" pitchFamily="50" charset="-127"/>
            </a:endParaRPr>
          </a:p>
        </p:txBody>
      </p:sp>
      <p:sp>
        <p:nvSpPr>
          <p:cNvPr id="30" name="Text 28"/>
          <p:cNvSpPr/>
          <p:nvPr/>
        </p:nvSpPr>
        <p:spPr>
          <a:xfrm>
            <a:off x="4337304" y="2221992"/>
            <a:ext cx="351434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5B6FAD"/>
                </a:solidFill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CIREF</a:t>
            </a:r>
            <a:endParaRPr lang="en-US" sz="1700" dirty="0">
              <a:latin typeface="나눔스퀘어라운드 ExtraBold" panose="020B0600000101010101" pitchFamily="50" charset="-127"/>
              <a:ea typeface="나눔스퀘어라운드 ExtraBold" panose="020B0600000101010101" pitchFamily="50" charset="-127"/>
            </a:endParaRPr>
          </a:p>
        </p:txBody>
      </p:sp>
      <p:sp>
        <p:nvSpPr>
          <p:cNvPr id="31" name="Text 29"/>
          <p:cNvSpPr/>
          <p:nvPr/>
        </p:nvSpPr>
        <p:spPr>
          <a:xfrm>
            <a:off x="4337304" y="2587752"/>
            <a:ext cx="351434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단서 유발 회상 + 일화적 미래 사고</a:t>
            </a:r>
          </a:p>
        </p:txBody>
      </p:sp>
      <p:sp>
        <p:nvSpPr>
          <p:cNvPr id="32" name="Text 30"/>
          <p:cNvSpPr/>
          <p:nvPr/>
        </p:nvSpPr>
        <p:spPr>
          <a:xfrm>
            <a:off x="4337304" y="2880360"/>
            <a:ext cx="351434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C6B5E"/>
                </a:solidFill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드림마을의 4단계 대화 프레임워크</a:t>
            </a:r>
            <a:endParaRPr lang="en-US" sz="1200" dirty="0">
              <a:latin typeface="나눔스퀘어라운드 ExtraBold" panose="020B0600000101010101" pitchFamily="50" charset="-127"/>
              <a:ea typeface="나눔스퀘어라운드 ExtraBold" panose="020B0600000101010101" pitchFamily="50" charset="-127"/>
            </a:endParaRPr>
          </a:p>
        </p:txBody>
      </p:sp>
      <p:sp>
        <p:nvSpPr>
          <p:cNvPr id="33" name="Shape 31"/>
          <p:cNvSpPr/>
          <p:nvPr/>
        </p:nvSpPr>
        <p:spPr>
          <a:xfrm>
            <a:off x="4428744" y="3255264"/>
            <a:ext cx="3331464" cy="0"/>
          </a:xfrm>
          <a:prstGeom prst="line">
            <a:avLst/>
          </a:prstGeom>
          <a:noFill/>
          <a:ln w="12700">
            <a:solidFill>
              <a:srgbClr val="DDD8CC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383024" y="3346704"/>
            <a:ext cx="342290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C3A2E"/>
                </a:solidFill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💬  4단계 대화</a:t>
            </a:r>
            <a:endParaRPr lang="en-US" sz="1300" dirty="0">
              <a:latin typeface="나눔스퀘어라운드 ExtraBold" panose="020B0600000101010101" pitchFamily="50" charset="-127"/>
              <a:ea typeface="나눔스퀘어라운드 ExtraBold" panose="020B0600000101010101" pitchFamily="50" charset="-127"/>
            </a:endParaRPr>
          </a:p>
        </p:txBody>
      </p:sp>
      <p:sp>
        <p:nvSpPr>
          <p:cNvPr id="35" name="Text 33"/>
          <p:cNvSpPr/>
          <p:nvPr/>
        </p:nvSpPr>
        <p:spPr>
          <a:xfrm>
            <a:off x="4383024" y="3602736"/>
            <a:ext cx="342290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C6B5E"/>
                </a:solidFill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시공간·감각·정체성·대체 활동 순서로 질문</a:t>
            </a:r>
            <a:endParaRPr lang="en-US" sz="1100" dirty="0">
              <a:latin typeface="나눔스퀘어라운드 ExtraBold" panose="020B0600000101010101" pitchFamily="50" charset="-127"/>
              <a:ea typeface="나눔스퀘어라운드 ExtraBold" panose="020B0600000101010101" pitchFamily="50" charset="-127"/>
            </a:endParaRPr>
          </a:p>
        </p:txBody>
      </p:sp>
      <p:sp>
        <p:nvSpPr>
          <p:cNvPr id="36" name="Text 34"/>
          <p:cNvSpPr/>
          <p:nvPr/>
        </p:nvSpPr>
        <p:spPr>
          <a:xfrm>
            <a:off x="4383024" y="4005072"/>
            <a:ext cx="342290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C3A2E"/>
                </a:solidFill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🤖  AI 재질문</a:t>
            </a:r>
            <a:endParaRPr lang="en-US" sz="1300" dirty="0">
              <a:latin typeface="나눔스퀘어라운드 ExtraBold" panose="020B0600000101010101" pitchFamily="50" charset="-127"/>
              <a:ea typeface="나눔스퀘어라운드 ExtraBold" panose="020B0600000101010101" pitchFamily="50" charset="-127"/>
            </a:endParaRPr>
          </a:p>
        </p:txBody>
      </p:sp>
      <p:sp>
        <p:nvSpPr>
          <p:cNvPr id="37" name="Text 35"/>
          <p:cNvSpPr/>
          <p:nvPr/>
        </p:nvSpPr>
        <p:spPr>
          <a:xfrm>
            <a:off x="4383024" y="4261104"/>
            <a:ext cx="342290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C6B5E"/>
                </a:solidFill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모르겠어요 답변 시 소크라테스식 유도</a:t>
            </a:r>
            <a:endParaRPr lang="en-US" sz="1100" dirty="0">
              <a:latin typeface="나눔스퀘어라운드 ExtraBold" panose="020B0600000101010101" pitchFamily="50" charset="-127"/>
              <a:ea typeface="나눔스퀘어라운드 ExtraBold" panose="020B0600000101010101" pitchFamily="50" charset="-127"/>
            </a:endParaRPr>
          </a:p>
        </p:txBody>
      </p:sp>
      <p:sp>
        <p:nvSpPr>
          <p:cNvPr id="38" name="Text 36"/>
          <p:cNvSpPr/>
          <p:nvPr/>
        </p:nvSpPr>
        <p:spPr>
          <a:xfrm>
            <a:off x="4383024" y="4663440"/>
            <a:ext cx="342290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C3A2E"/>
                </a:solidFill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🖼️  이미지 생성</a:t>
            </a:r>
            <a:endParaRPr lang="en-US" sz="1300" dirty="0">
              <a:latin typeface="나눔스퀘어라운드 ExtraBold" panose="020B0600000101010101" pitchFamily="50" charset="-127"/>
              <a:ea typeface="나눔스퀘어라운드 ExtraBold" panose="020B0600000101010101" pitchFamily="50" charset="-127"/>
            </a:endParaRPr>
          </a:p>
        </p:txBody>
      </p:sp>
      <p:sp>
        <p:nvSpPr>
          <p:cNvPr id="39" name="Text 37"/>
          <p:cNvSpPr/>
          <p:nvPr/>
        </p:nvSpPr>
        <p:spPr>
          <a:xfrm>
            <a:off x="4383024" y="4919472"/>
            <a:ext cx="342290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C6B5E"/>
                </a:solidFill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5년·10년 후 AI 자화상으로 재공고화</a:t>
            </a:r>
            <a:endParaRPr lang="en-US" sz="1100" dirty="0">
              <a:latin typeface="나눔스퀘어라운드 ExtraBold" panose="020B0600000101010101" pitchFamily="50" charset="-127"/>
              <a:ea typeface="나눔스퀘어라운드 ExtraBold" panose="020B0600000101010101" pitchFamily="50" charset="-127"/>
            </a:endParaRPr>
          </a:p>
        </p:txBody>
      </p:sp>
      <p:sp>
        <p:nvSpPr>
          <p:cNvPr id="40" name="Shape 38"/>
          <p:cNvSpPr/>
          <p:nvPr/>
        </p:nvSpPr>
        <p:spPr>
          <a:xfrm>
            <a:off x="8125968" y="1261872"/>
            <a:ext cx="3697224" cy="4645152"/>
          </a:xfrm>
          <a:prstGeom prst="rect">
            <a:avLst/>
          </a:prstGeom>
          <a:solidFill>
            <a:srgbClr val="FFFEFB"/>
          </a:solidFill>
          <a:ln w="12700">
            <a:solidFill>
              <a:srgbClr val="DDD8CC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8125968" y="1261872"/>
            <a:ext cx="3697224" cy="45720"/>
          </a:xfrm>
          <a:prstGeom prst="rect">
            <a:avLst/>
          </a:prstGeom>
          <a:solidFill>
            <a:srgbClr val="C07820"/>
          </a:solidFill>
          <a:ln/>
        </p:spPr>
      </p:sp>
      <p:sp>
        <p:nvSpPr>
          <p:cNvPr id="42" name="Shape 40"/>
          <p:cNvSpPr/>
          <p:nvPr/>
        </p:nvSpPr>
        <p:spPr>
          <a:xfrm>
            <a:off x="8263128" y="1353312"/>
            <a:ext cx="411480" cy="411480"/>
          </a:xfrm>
          <a:prstGeom prst="ellipse">
            <a:avLst/>
          </a:prstGeom>
          <a:solidFill>
            <a:srgbClr val="C07820"/>
          </a:solidFill>
          <a:ln/>
        </p:spPr>
      </p:sp>
      <p:sp>
        <p:nvSpPr>
          <p:cNvPr id="43" name="Text 41"/>
          <p:cNvSpPr/>
          <p:nvPr/>
        </p:nvSpPr>
        <p:spPr>
          <a:xfrm>
            <a:off x="8263128" y="1421892"/>
            <a:ext cx="411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EFB"/>
                </a:solidFill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3</a:t>
            </a:r>
            <a:endParaRPr lang="en-US" sz="1400" dirty="0">
              <a:latin typeface="나눔스퀘어라운드 ExtraBold" panose="020B0600000101010101" pitchFamily="50" charset="-127"/>
              <a:ea typeface="나눔스퀘어라운드 ExtraBold" panose="020B0600000101010101" pitchFamily="50" charset="-127"/>
            </a:endParaRPr>
          </a:p>
        </p:txBody>
      </p:sp>
      <p:sp>
        <p:nvSpPr>
          <p:cNvPr id="44" name="Shape 42"/>
          <p:cNvSpPr/>
          <p:nvPr/>
        </p:nvSpPr>
        <p:spPr>
          <a:xfrm>
            <a:off x="9608820" y="1399032"/>
            <a:ext cx="731520" cy="731520"/>
          </a:xfrm>
          <a:prstGeom prst="ellipse">
            <a:avLst/>
          </a:prstGeom>
          <a:solidFill>
            <a:srgbClr val="FFF4E0"/>
          </a:solidFill>
          <a:ln/>
        </p:spPr>
      </p:sp>
      <p:sp>
        <p:nvSpPr>
          <p:cNvPr id="45" name="Text 43"/>
          <p:cNvSpPr/>
          <p:nvPr/>
        </p:nvSpPr>
        <p:spPr>
          <a:xfrm>
            <a:off x="9608820" y="1490472"/>
            <a:ext cx="731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⏳</a:t>
            </a:r>
            <a:endParaRPr lang="en-US" sz="2400" dirty="0">
              <a:latin typeface="나눔스퀘어라운드 ExtraBold" panose="020B0600000101010101" pitchFamily="50" charset="-127"/>
              <a:ea typeface="나눔스퀘어라운드 ExtraBold" panose="020B0600000101010101" pitchFamily="50" charset="-127"/>
            </a:endParaRPr>
          </a:p>
        </p:txBody>
      </p:sp>
      <p:sp>
        <p:nvSpPr>
          <p:cNvPr id="46" name="Text 44"/>
          <p:cNvSpPr/>
          <p:nvPr/>
        </p:nvSpPr>
        <p:spPr>
          <a:xfrm>
            <a:off x="8217408" y="2221992"/>
            <a:ext cx="351434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C07820"/>
                </a:solidFill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지연 할인 극복</a:t>
            </a:r>
            <a:endParaRPr lang="en-US" sz="1700" dirty="0">
              <a:latin typeface="나눔스퀘어라운드 ExtraBold" panose="020B0600000101010101" pitchFamily="50" charset="-127"/>
              <a:ea typeface="나눔스퀘어라운드 ExtraBold" panose="020B0600000101010101" pitchFamily="50" charset="-127"/>
            </a:endParaRPr>
          </a:p>
        </p:txBody>
      </p:sp>
      <p:sp>
        <p:nvSpPr>
          <p:cNvPr id="47" name="Text 45"/>
          <p:cNvSpPr/>
          <p:nvPr/>
        </p:nvSpPr>
        <p:spPr>
          <a:xfrm>
            <a:off x="8217408" y="2587752"/>
            <a:ext cx="351434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Delay Discounting Overcome</a:t>
            </a:r>
          </a:p>
        </p:txBody>
      </p:sp>
      <p:sp>
        <p:nvSpPr>
          <p:cNvPr id="48" name="Text 46"/>
          <p:cNvSpPr/>
          <p:nvPr/>
        </p:nvSpPr>
        <p:spPr>
          <a:xfrm>
            <a:off x="8217408" y="2880360"/>
            <a:ext cx="351434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C6B5E"/>
                </a:solidFill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먼 미래 보상의 현재 가치를 끌어올린다</a:t>
            </a:r>
            <a:endParaRPr lang="en-US" sz="1200" dirty="0">
              <a:latin typeface="나눔스퀘어라운드 ExtraBold" panose="020B0600000101010101" pitchFamily="50" charset="-127"/>
              <a:ea typeface="나눔스퀘어라운드 ExtraBold" panose="020B0600000101010101" pitchFamily="50" charset="-127"/>
            </a:endParaRPr>
          </a:p>
        </p:txBody>
      </p:sp>
      <p:sp>
        <p:nvSpPr>
          <p:cNvPr id="49" name="Shape 47"/>
          <p:cNvSpPr/>
          <p:nvPr/>
        </p:nvSpPr>
        <p:spPr>
          <a:xfrm>
            <a:off x="8308848" y="3255264"/>
            <a:ext cx="3331464" cy="0"/>
          </a:xfrm>
          <a:prstGeom prst="line">
            <a:avLst/>
          </a:prstGeom>
          <a:noFill/>
          <a:ln w="12700">
            <a:solidFill>
              <a:srgbClr val="DDD8CC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8263128" y="3346704"/>
            <a:ext cx="342290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C3A2E"/>
                </a:solidFill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📉  지연 할인</a:t>
            </a:r>
            <a:endParaRPr lang="en-US" sz="1300" dirty="0">
              <a:latin typeface="나눔스퀘어라운드 ExtraBold" panose="020B0600000101010101" pitchFamily="50" charset="-127"/>
              <a:ea typeface="나눔스퀘어라운드 ExtraBold" panose="020B0600000101010101" pitchFamily="50" charset="-127"/>
            </a:endParaRPr>
          </a:p>
        </p:txBody>
      </p:sp>
      <p:sp>
        <p:nvSpPr>
          <p:cNvPr id="51" name="Text 49"/>
          <p:cNvSpPr/>
          <p:nvPr/>
        </p:nvSpPr>
        <p:spPr>
          <a:xfrm>
            <a:off x="8263128" y="3602736"/>
            <a:ext cx="342290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C6B5E"/>
                </a:solidFill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미래 보상일수록 현재 가치가 낮아지는 편향</a:t>
            </a:r>
            <a:endParaRPr lang="en-US" sz="1100" dirty="0">
              <a:latin typeface="나눔스퀘어라운드 ExtraBold" panose="020B0600000101010101" pitchFamily="50" charset="-127"/>
              <a:ea typeface="나눔스퀘어라운드 ExtraBold" panose="020B0600000101010101" pitchFamily="50" charset="-127"/>
            </a:endParaRPr>
          </a:p>
        </p:txBody>
      </p:sp>
      <p:sp>
        <p:nvSpPr>
          <p:cNvPr id="52" name="Text 50"/>
          <p:cNvSpPr/>
          <p:nvPr/>
        </p:nvSpPr>
        <p:spPr>
          <a:xfrm>
            <a:off x="8263128" y="4005072"/>
            <a:ext cx="342290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C3A2E"/>
                </a:solidFill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🎨  AI 시각화</a:t>
            </a:r>
            <a:endParaRPr lang="en-US" sz="1300" dirty="0">
              <a:latin typeface="나눔스퀘어라운드 ExtraBold" panose="020B0600000101010101" pitchFamily="50" charset="-127"/>
              <a:ea typeface="나눔스퀘어라운드 ExtraBold" panose="020B0600000101010101" pitchFamily="50" charset="-127"/>
            </a:endParaRPr>
          </a:p>
        </p:txBody>
      </p:sp>
      <p:sp>
        <p:nvSpPr>
          <p:cNvPr id="53" name="Text 51"/>
          <p:cNvSpPr/>
          <p:nvPr/>
        </p:nvSpPr>
        <p:spPr>
          <a:xfrm>
            <a:off x="8263128" y="4261104"/>
            <a:ext cx="342290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C6B5E"/>
                </a:solidFill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생생한 이미지로 먼 미래를 지금 눈앞에</a:t>
            </a:r>
            <a:endParaRPr lang="en-US" sz="1100" dirty="0">
              <a:latin typeface="나눔스퀘어라운드 ExtraBold" panose="020B0600000101010101" pitchFamily="50" charset="-127"/>
              <a:ea typeface="나눔스퀘어라운드 ExtraBold" panose="020B0600000101010101" pitchFamily="50" charset="-127"/>
            </a:endParaRPr>
          </a:p>
        </p:txBody>
      </p:sp>
      <p:sp>
        <p:nvSpPr>
          <p:cNvPr id="54" name="Text 52"/>
          <p:cNvSpPr/>
          <p:nvPr/>
        </p:nvSpPr>
        <p:spPr>
          <a:xfrm>
            <a:off x="8263128" y="4663440"/>
            <a:ext cx="342290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C3A2E"/>
                </a:solidFill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💪  동기 강화</a:t>
            </a:r>
            <a:endParaRPr lang="en-US" sz="1300" dirty="0">
              <a:latin typeface="나눔스퀘어라운드 ExtraBold" panose="020B0600000101010101" pitchFamily="50" charset="-127"/>
              <a:ea typeface="나눔스퀘어라운드 ExtraBold" panose="020B0600000101010101" pitchFamily="50" charset="-127"/>
            </a:endParaRPr>
          </a:p>
        </p:txBody>
      </p:sp>
      <p:sp>
        <p:nvSpPr>
          <p:cNvPr id="55" name="Text 53"/>
          <p:cNvSpPr/>
          <p:nvPr/>
        </p:nvSpPr>
        <p:spPr>
          <a:xfrm>
            <a:off x="8263128" y="4919472"/>
            <a:ext cx="342290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C6B5E"/>
                </a:solidFill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즉각적 행동 변화 동기 유발 (MI 기법 결합)</a:t>
            </a:r>
            <a:endParaRPr lang="en-US" sz="1100" dirty="0">
              <a:latin typeface="나눔스퀘어라운드 ExtraBold" panose="020B0600000101010101" pitchFamily="50" charset="-127"/>
              <a:ea typeface="나눔스퀘어라운드 ExtraBold" panose="020B0600000101010101" pitchFamily="50" charset="-127"/>
            </a:endParaRPr>
          </a:p>
        </p:txBody>
      </p:sp>
      <p:sp>
        <p:nvSpPr>
          <p:cNvPr id="56" name="Shape 54"/>
          <p:cNvSpPr/>
          <p:nvPr/>
        </p:nvSpPr>
        <p:spPr>
          <a:xfrm>
            <a:off x="0" y="5943600"/>
            <a:ext cx="12188952" cy="914400"/>
          </a:xfrm>
          <a:prstGeom prst="rect">
            <a:avLst/>
          </a:prstGeom>
          <a:solidFill>
            <a:srgbClr val="2C3E35"/>
          </a:solidFill>
          <a:ln/>
        </p:spPr>
      </p:sp>
      <p:sp>
        <p:nvSpPr>
          <p:cNvPr id="57" name="Text 55"/>
          <p:cNvSpPr/>
          <p:nvPr/>
        </p:nvSpPr>
        <p:spPr>
          <a:xfrm>
            <a:off x="365760" y="6016752"/>
            <a:ext cx="11457432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EFB"/>
                </a:solidFill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🏆  결론  세 이론의 결합 → AI가 구체적 미래 에피소드를 생성하여 청소년의 도파민 회로를 건강하게 재설계한다</a:t>
            </a:r>
            <a:endParaRPr lang="en-US" sz="1500" dirty="0">
              <a:latin typeface="나눔스퀘어라운드 ExtraBold" panose="020B0600000101010101" pitchFamily="50" charset="-127"/>
              <a:ea typeface="나눔스퀘어라운드 ExtraBold" panose="020B0600000101010101" pitchFamily="50" charset="-127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EF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2C3E35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4A9E75"/>
          </a:solidFill>
          <a:ln/>
        </p:spPr>
      </p:sp>
      <p:sp>
        <p:nvSpPr>
          <p:cNvPr id="5" name="Text 3"/>
          <p:cNvSpPr/>
          <p:nvPr/>
        </p:nvSpPr>
        <p:spPr>
          <a:xfrm>
            <a:off x="365760" y="109728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EFB"/>
                </a:solidFill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  <a:cs typeface="Pretendard" pitchFamily="34" charset="-120"/>
              </a:rPr>
              <a:t>CIREF 4단계 프로세스</a:t>
            </a:r>
            <a:endParaRPr lang="en-US" sz="2800" dirty="0">
              <a:latin typeface="나눔스퀘어라운드 ExtraBold" panose="020B0600000101010101" pitchFamily="50" charset="-127"/>
              <a:ea typeface="나눔스퀘어라운드 ExtraBold" panose="020B0600000101010101" pitchFamily="50" charset="-127"/>
            </a:endParaRPr>
          </a:p>
        </p:txBody>
      </p:sp>
      <p:sp>
        <p:nvSpPr>
          <p:cNvPr id="6" name="Text 4"/>
          <p:cNvSpPr/>
          <p:nvPr/>
        </p:nvSpPr>
        <p:spPr>
          <a:xfrm>
            <a:off x="365760" y="676656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A8C4B2"/>
                </a:solidFill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미래의 나 — AI 자화상 생성 핵심 모듈</a:t>
            </a:r>
            <a:endParaRPr lang="en-US" sz="1500" dirty="0">
              <a:latin typeface="나눔스퀘어라운드 ExtraBold" panose="020B0600000101010101" pitchFamily="50" charset="-127"/>
              <a:ea typeface="나눔스퀘어라운드 ExtraBold" panose="020B0600000101010101" pitchFamily="50" charset="-127"/>
            </a:endParaRPr>
          </a:p>
        </p:txBody>
      </p:sp>
      <p:sp>
        <p:nvSpPr>
          <p:cNvPr id="7" name="Text 5"/>
          <p:cNvSpPr/>
          <p:nvPr/>
        </p:nvSpPr>
        <p:spPr>
          <a:xfrm>
            <a:off x="11430000" y="109728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400" dirty="0">
                <a:solidFill>
                  <a:srgbClr val="7A9E8A"/>
                </a:solidFill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06</a:t>
            </a:r>
            <a:endParaRPr lang="en-US" sz="1400" dirty="0">
              <a:latin typeface="나눔스퀘어라운드 ExtraBold" panose="020B0600000101010101" pitchFamily="50" charset="-127"/>
              <a:ea typeface="나눔스퀘어라운드 ExtraBold" panose="020B0600000101010101" pitchFamily="50" charset="-127"/>
            </a:endParaRPr>
          </a:p>
        </p:txBody>
      </p:sp>
      <p:sp>
        <p:nvSpPr>
          <p:cNvPr id="8" name="Shape 6"/>
          <p:cNvSpPr/>
          <p:nvPr/>
        </p:nvSpPr>
        <p:spPr>
          <a:xfrm>
            <a:off x="365760" y="1325880"/>
            <a:ext cx="2727198" cy="1005840"/>
          </a:xfrm>
          <a:prstGeom prst="chevron">
            <a:avLst/>
          </a:prstGeom>
          <a:solidFill>
            <a:srgbClr val="FAF8F2"/>
          </a:solidFill>
          <a:ln w="25400">
            <a:solidFill>
              <a:srgbClr val="4A9E7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1417320"/>
            <a:ext cx="254431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4A9E75"/>
                </a:solidFill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01</a:t>
            </a:r>
            <a:endParaRPr lang="en-US" sz="1200" dirty="0">
              <a:latin typeface="나눔스퀘어라운드 ExtraBold" panose="020B0600000101010101" pitchFamily="50" charset="-127"/>
              <a:ea typeface="나눔스퀘어라운드 ExtraBold" panose="020B0600000101010101" pitchFamily="50" charset="-127"/>
            </a:endParaRPr>
          </a:p>
        </p:txBody>
      </p:sp>
      <p:sp>
        <p:nvSpPr>
          <p:cNvPr id="10" name="Text 8"/>
          <p:cNvSpPr/>
          <p:nvPr/>
        </p:nvSpPr>
        <p:spPr>
          <a:xfrm>
            <a:off x="457200" y="1719072"/>
            <a:ext cx="254431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2C3A2E"/>
                </a:solidFill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질문 수집</a:t>
            </a:r>
            <a:endParaRPr lang="en-US" sz="1500" dirty="0">
              <a:latin typeface="나눔스퀘어라운드 ExtraBold" panose="020B0600000101010101" pitchFamily="50" charset="-127"/>
              <a:ea typeface="나눔스퀘어라운드 ExtraBold" panose="020B0600000101010101" pitchFamily="50" charset="-127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3275838" y="1325880"/>
            <a:ext cx="2727198" cy="1005840"/>
          </a:xfrm>
          <a:prstGeom prst="chevron">
            <a:avLst/>
          </a:prstGeom>
          <a:solidFill>
            <a:srgbClr val="FAF8F2"/>
          </a:solidFill>
          <a:ln w="25400">
            <a:solidFill>
              <a:srgbClr val="4A9E7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367278" y="1417320"/>
            <a:ext cx="254431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4A9E75"/>
                </a:solidFill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02</a:t>
            </a:r>
            <a:endParaRPr lang="en-US" sz="1200" dirty="0">
              <a:latin typeface="나눔스퀘어라운드 ExtraBold" panose="020B0600000101010101" pitchFamily="50" charset="-127"/>
              <a:ea typeface="나눔스퀘어라운드 ExtraBold" panose="020B0600000101010101" pitchFamily="50" charset="-127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3367278" y="1719072"/>
            <a:ext cx="254431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2C3A2E"/>
                </a:solidFill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AI 분석</a:t>
            </a:r>
            <a:endParaRPr lang="en-US" sz="1500" dirty="0">
              <a:latin typeface="나눔스퀘어라운드 ExtraBold" panose="020B0600000101010101" pitchFamily="50" charset="-127"/>
              <a:ea typeface="나눔스퀘어라운드 ExtraBold" panose="020B0600000101010101" pitchFamily="50" charset="-127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6185916" y="1325880"/>
            <a:ext cx="2727198" cy="1005840"/>
          </a:xfrm>
          <a:prstGeom prst="chevron">
            <a:avLst/>
          </a:prstGeom>
          <a:solidFill>
            <a:srgbClr val="4A9E75"/>
          </a:solidFill>
          <a:ln w="25400">
            <a:solidFill>
              <a:srgbClr val="4A9E7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277356" y="1417320"/>
            <a:ext cx="254431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E8F5EE"/>
                </a:solidFill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03</a:t>
            </a:r>
            <a:endParaRPr lang="en-US" sz="1200" dirty="0">
              <a:latin typeface="나눔스퀘어라운드 ExtraBold" panose="020B0600000101010101" pitchFamily="50" charset="-127"/>
              <a:ea typeface="나눔스퀘어라운드 ExtraBold" panose="020B0600000101010101" pitchFamily="50" charset="-127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6277356" y="1719072"/>
            <a:ext cx="254431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EFB"/>
                </a:solidFill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이미지 생성</a:t>
            </a:r>
            <a:endParaRPr lang="en-US" sz="1500" dirty="0">
              <a:latin typeface="나눔스퀘어라운드 ExtraBold" panose="020B0600000101010101" pitchFamily="50" charset="-127"/>
              <a:ea typeface="나눔스퀘어라운드 ExtraBold" panose="020B0600000101010101" pitchFamily="50" charset="-127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9095994" y="1325880"/>
            <a:ext cx="2727198" cy="1005840"/>
          </a:xfrm>
          <a:prstGeom prst="chevron">
            <a:avLst/>
          </a:prstGeom>
          <a:solidFill>
            <a:srgbClr val="FAF8F2"/>
          </a:solidFill>
          <a:ln w="25400">
            <a:solidFill>
              <a:srgbClr val="4A9E7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187434" y="1417320"/>
            <a:ext cx="254431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4A9E75"/>
                </a:solidFill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04</a:t>
            </a:r>
            <a:endParaRPr lang="en-US" sz="1200" dirty="0">
              <a:latin typeface="나눔스퀘어라운드 ExtraBold" panose="020B0600000101010101" pitchFamily="50" charset="-127"/>
              <a:ea typeface="나눔스퀘어라운드 ExtraBold" panose="020B0600000101010101" pitchFamily="50" charset="-127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9187434" y="1719072"/>
            <a:ext cx="254431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2C3A2E"/>
                </a:solidFill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재공고화</a:t>
            </a:r>
            <a:endParaRPr lang="en-US" sz="1500" dirty="0">
              <a:latin typeface="나눔스퀘어라운드 ExtraBold" panose="020B0600000101010101" pitchFamily="50" charset="-127"/>
              <a:ea typeface="나눔스퀘어라운드 ExtraBold" panose="020B0600000101010101" pitchFamily="50" charset="-127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365760" y="2468880"/>
            <a:ext cx="2727198" cy="3429000"/>
          </a:xfrm>
          <a:prstGeom prst="rect">
            <a:avLst/>
          </a:prstGeom>
          <a:solidFill>
            <a:srgbClr val="FAF8F2"/>
          </a:solidFill>
          <a:ln w="12700">
            <a:solidFill>
              <a:srgbClr val="DDD8C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7200" y="2560320"/>
            <a:ext cx="254431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C3A2E"/>
                </a:solidFill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💬  4개 카테고리 질문</a:t>
            </a:r>
            <a:endParaRPr lang="en-US" sz="1400" dirty="0">
              <a:latin typeface="나눔스퀘어라운드 ExtraBold" panose="020B0600000101010101" pitchFamily="50" charset="-127"/>
              <a:ea typeface="나눔스퀘어라운드 ExtraBold" panose="020B0600000101010101" pitchFamily="50" charset="-127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502920" y="2999232"/>
            <a:ext cx="245287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1200" dirty="0" err="1">
                <a:solidFill>
                  <a:srgbClr val="5C6B5E"/>
                </a:solidFill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시공간</a:t>
            </a:r>
            <a:r>
              <a:rPr lang="en-US" sz="1200" dirty="0">
                <a:solidFill>
                  <a:srgbClr val="5C6B5E"/>
                </a:solidFill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 </a:t>
            </a:r>
            <a:r>
              <a:rPr lang="en-US" sz="1200" dirty="0" err="1">
                <a:solidFill>
                  <a:srgbClr val="5C6B5E"/>
                </a:solidFill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묘사</a:t>
            </a:r>
            <a:r>
              <a:rPr lang="en-US" sz="1200" dirty="0">
                <a:solidFill>
                  <a:srgbClr val="5C6B5E"/>
                </a:solidFill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: 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1200" dirty="0" err="1">
                <a:solidFill>
                  <a:srgbClr val="5C6B5E"/>
                </a:solidFill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미래의</a:t>
            </a:r>
            <a:r>
              <a:rPr lang="en-US" sz="1200" dirty="0">
                <a:solidFill>
                  <a:srgbClr val="5C6B5E"/>
                </a:solidFill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 너는 어디서 뭘 하고 있어?</a:t>
            </a:r>
            <a:endParaRPr lang="en-US" sz="1200" dirty="0">
              <a:latin typeface="나눔스퀘어라운드 ExtraBold" panose="020B0600000101010101" pitchFamily="50" charset="-127"/>
              <a:ea typeface="나눔스퀘어라운드 ExtraBold" panose="020B0600000101010101" pitchFamily="50" charset="-127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502920" y="3742728"/>
            <a:ext cx="245287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1200" dirty="0" err="1">
                <a:solidFill>
                  <a:srgbClr val="5C6B5E"/>
                </a:solidFill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감각</a:t>
            </a:r>
            <a:r>
              <a:rPr lang="en-US" sz="1200" dirty="0">
                <a:solidFill>
                  <a:srgbClr val="5C6B5E"/>
                </a:solidFill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/감정: 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5C6B5E"/>
                </a:solidFill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그 장면에서 기분이 어때?</a:t>
            </a:r>
            <a:endParaRPr lang="en-US" sz="1200" dirty="0">
              <a:latin typeface="나눔스퀘어라운드 ExtraBold" panose="020B0600000101010101" pitchFamily="50" charset="-127"/>
              <a:ea typeface="나눔스퀘어라운드 ExtraBold" panose="020B0600000101010101" pitchFamily="50" charset="-127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502920" y="4486224"/>
            <a:ext cx="245287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1200" dirty="0" err="1">
                <a:solidFill>
                  <a:srgbClr val="5C6B5E"/>
                </a:solidFill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정체성</a:t>
            </a:r>
            <a:r>
              <a:rPr lang="en-US" sz="1200" dirty="0">
                <a:solidFill>
                  <a:srgbClr val="5C6B5E"/>
                </a:solidFill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: 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1200" dirty="0" err="1">
                <a:solidFill>
                  <a:srgbClr val="5C6B5E"/>
                </a:solidFill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어떤</a:t>
            </a:r>
            <a:r>
              <a:rPr lang="en-US" sz="1200" dirty="0">
                <a:solidFill>
                  <a:srgbClr val="5C6B5E"/>
                </a:solidFill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 어른의 모습과 닮았어?</a:t>
            </a:r>
            <a:endParaRPr lang="en-US" sz="1200" dirty="0">
              <a:latin typeface="나눔스퀘어라운드 ExtraBold" panose="020B0600000101010101" pitchFamily="50" charset="-127"/>
              <a:ea typeface="나눔스퀘어라운드 ExtraBold" panose="020B0600000101010101" pitchFamily="50" charset="-127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502920" y="5229721"/>
            <a:ext cx="245287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1200" dirty="0" err="1">
                <a:solidFill>
                  <a:srgbClr val="5C6B5E"/>
                </a:solidFill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대체</a:t>
            </a:r>
            <a:r>
              <a:rPr lang="en-US" sz="1200" dirty="0">
                <a:solidFill>
                  <a:srgbClr val="5C6B5E"/>
                </a:solidFill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 활동: 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1200" dirty="0" err="1">
                <a:solidFill>
                  <a:srgbClr val="5C6B5E"/>
                </a:solidFill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스마트폰</a:t>
            </a:r>
            <a:r>
              <a:rPr lang="en-US" sz="1200" dirty="0">
                <a:solidFill>
                  <a:srgbClr val="5C6B5E"/>
                </a:solidFill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 대신 뭘 하고 싶어?</a:t>
            </a:r>
            <a:endParaRPr lang="en-US" sz="1200" dirty="0">
              <a:latin typeface="나눔스퀘어라운드 ExtraBold" panose="020B0600000101010101" pitchFamily="50" charset="-127"/>
              <a:ea typeface="나눔스퀘어라운드 ExtraBold" panose="020B0600000101010101" pitchFamily="50" charset="-127"/>
            </a:endParaRPr>
          </a:p>
        </p:txBody>
      </p:sp>
      <p:sp>
        <p:nvSpPr>
          <p:cNvPr id="26" name="Shape 24"/>
          <p:cNvSpPr/>
          <p:nvPr/>
        </p:nvSpPr>
        <p:spPr>
          <a:xfrm>
            <a:off x="3275838" y="2468880"/>
            <a:ext cx="2727198" cy="3429000"/>
          </a:xfrm>
          <a:prstGeom prst="rect">
            <a:avLst/>
          </a:prstGeom>
          <a:solidFill>
            <a:srgbClr val="FAF8F2"/>
          </a:solidFill>
          <a:ln w="12700">
            <a:solidFill>
              <a:srgbClr val="DDD8C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367278" y="2560320"/>
            <a:ext cx="254431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C3A2E"/>
                </a:solidFill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🤖  Claude API 분석</a:t>
            </a:r>
            <a:endParaRPr lang="en-US" sz="1400" dirty="0">
              <a:latin typeface="나눔스퀘어라운드 ExtraBold" panose="020B0600000101010101" pitchFamily="50" charset="-127"/>
              <a:ea typeface="나눔스퀘어라운드 ExtraBold" panose="020B0600000101010101" pitchFamily="50" charset="-127"/>
            </a:endParaRPr>
          </a:p>
        </p:txBody>
      </p:sp>
      <p:sp>
        <p:nvSpPr>
          <p:cNvPr id="28" name="Text 26"/>
          <p:cNvSpPr/>
          <p:nvPr/>
        </p:nvSpPr>
        <p:spPr>
          <a:xfrm>
            <a:off x="3412998" y="2999232"/>
            <a:ext cx="245287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C6B5E"/>
                </a:solidFill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•  장소·인물·사물 Entity 추출</a:t>
            </a:r>
            <a:endParaRPr lang="en-US" sz="1200" dirty="0">
              <a:latin typeface="나눔스퀘어라운드 ExtraBold" panose="020B0600000101010101" pitchFamily="50" charset="-127"/>
              <a:ea typeface="나눔스퀘어라운드 ExtraBold" panose="020B0600000101010101" pitchFamily="50" charset="-127"/>
            </a:endParaRPr>
          </a:p>
        </p:txBody>
      </p:sp>
      <p:sp>
        <p:nvSpPr>
          <p:cNvPr id="29" name="Text 27"/>
          <p:cNvSpPr/>
          <p:nvPr/>
        </p:nvSpPr>
        <p:spPr>
          <a:xfrm>
            <a:off x="3412998" y="3657600"/>
            <a:ext cx="245287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C6B5E"/>
                </a:solidFill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•  감정 키워드 + Valence 분석</a:t>
            </a:r>
            <a:endParaRPr lang="en-US" sz="1200" dirty="0">
              <a:latin typeface="나눔스퀘어라운드 ExtraBold" panose="020B0600000101010101" pitchFamily="50" charset="-127"/>
              <a:ea typeface="나눔스퀘어라운드 ExtraBold" panose="020B0600000101010101" pitchFamily="50" charset="-127"/>
            </a:endParaRPr>
          </a:p>
        </p:txBody>
      </p:sp>
      <p:sp>
        <p:nvSpPr>
          <p:cNvPr id="30" name="Text 28"/>
          <p:cNvSpPr/>
          <p:nvPr/>
        </p:nvSpPr>
        <p:spPr>
          <a:xfrm>
            <a:off x="3412998" y="4315968"/>
            <a:ext cx="245287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C6B5E"/>
                </a:solidFill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•  저항 시 소크라테스식 재질문</a:t>
            </a:r>
            <a:endParaRPr lang="en-US" sz="1200" dirty="0">
              <a:latin typeface="나눔스퀘어라운드 ExtraBold" panose="020B0600000101010101" pitchFamily="50" charset="-127"/>
              <a:ea typeface="나눔스퀘어라운드 ExtraBold" panose="020B0600000101010101" pitchFamily="50" charset="-127"/>
            </a:endParaRPr>
          </a:p>
        </p:txBody>
      </p:sp>
      <p:sp>
        <p:nvSpPr>
          <p:cNvPr id="31" name="Text 29"/>
          <p:cNvSpPr/>
          <p:nvPr/>
        </p:nvSpPr>
        <p:spPr>
          <a:xfrm>
            <a:off x="3412998" y="4974336"/>
            <a:ext cx="245287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C6B5E"/>
                </a:solidFill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•  동기강화 상담(MI) 기법 적용</a:t>
            </a:r>
            <a:endParaRPr lang="en-US" sz="1200" dirty="0">
              <a:latin typeface="나눔스퀘어라운드 ExtraBold" panose="020B0600000101010101" pitchFamily="50" charset="-127"/>
              <a:ea typeface="나눔스퀘어라운드 ExtraBold" panose="020B0600000101010101" pitchFamily="50" charset="-127"/>
            </a:endParaRPr>
          </a:p>
        </p:txBody>
      </p:sp>
      <p:sp>
        <p:nvSpPr>
          <p:cNvPr id="32" name="Shape 30"/>
          <p:cNvSpPr/>
          <p:nvPr/>
        </p:nvSpPr>
        <p:spPr>
          <a:xfrm>
            <a:off x="6185916" y="2468880"/>
            <a:ext cx="2727198" cy="3429000"/>
          </a:xfrm>
          <a:prstGeom prst="rect">
            <a:avLst/>
          </a:prstGeom>
          <a:solidFill>
            <a:srgbClr val="E8F5EE"/>
          </a:solidFill>
          <a:ln w="25400">
            <a:solidFill>
              <a:srgbClr val="4A9E75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277356" y="2560320"/>
            <a:ext cx="254431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4A9E75"/>
                </a:solidFill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🖼️  AI 이미지 생성</a:t>
            </a:r>
            <a:endParaRPr lang="en-US" sz="1400" dirty="0">
              <a:latin typeface="나눔스퀘어라운드 ExtraBold" panose="020B0600000101010101" pitchFamily="50" charset="-127"/>
              <a:ea typeface="나눔스퀘어라운드 ExtraBold" panose="020B0600000101010101" pitchFamily="50" charset="-127"/>
            </a:endParaRPr>
          </a:p>
        </p:txBody>
      </p:sp>
      <p:sp>
        <p:nvSpPr>
          <p:cNvPr id="34" name="Text 32"/>
          <p:cNvSpPr/>
          <p:nvPr/>
        </p:nvSpPr>
        <p:spPr>
          <a:xfrm>
            <a:off x="6323076" y="2999232"/>
            <a:ext cx="245287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C6B5E"/>
                </a:solidFill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•  5년 후 / 10년 후 각각 생성</a:t>
            </a:r>
            <a:endParaRPr lang="en-US" sz="1200" dirty="0">
              <a:latin typeface="나눔스퀘어라운드 ExtraBold" panose="020B0600000101010101" pitchFamily="50" charset="-127"/>
              <a:ea typeface="나눔스퀘어라운드 ExtraBold" panose="020B0600000101010101" pitchFamily="50" charset="-127"/>
            </a:endParaRPr>
          </a:p>
        </p:txBody>
      </p:sp>
      <p:sp>
        <p:nvSpPr>
          <p:cNvPr id="35" name="Text 33"/>
          <p:cNvSpPr/>
          <p:nvPr/>
        </p:nvSpPr>
        <p:spPr>
          <a:xfrm>
            <a:off x="6323076" y="3657600"/>
            <a:ext cx="245287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C6B5E"/>
                </a:solidFill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•  1인칭 시점, 사실적 스타일</a:t>
            </a:r>
            <a:endParaRPr lang="en-US" sz="1200" dirty="0">
              <a:latin typeface="나눔스퀘어라운드 ExtraBold" panose="020B0600000101010101" pitchFamily="50" charset="-127"/>
              <a:ea typeface="나눔스퀘어라운드 ExtraBold" panose="020B0600000101010101" pitchFamily="50" charset="-127"/>
            </a:endParaRPr>
          </a:p>
        </p:txBody>
      </p:sp>
      <p:sp>
        <p:nvSpPr>
          <p:cNvPr id="36" name="Text 34"/>
          <p:cNvSpPr/>
          <p:nvPr/>
        </p:nvSpPr>
        <p:spPr>
          <a:xfrm>
            <a:off x="6323076" y="4315968"/>
            <a:ext cx="245287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C6B5E"/>
                </a:solidFill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•  Replicate / fal.ai 이미지 API</a:t>
            </a:r>
            <a:endParaRPr lang="en-US" sz="1200" dirty="0">
              <a:latin typeface="나눔스퀘어라운드 ExtraBold" panose="020B0600000101010101" pitchFamily="50" charset="-127"/>
              <a:ea typeface="나눔스퀘어라운드 ExtraBold" panose="020B0600000101010101" pitchFamily="50" charset="-127"/>
            </a:endParaRPr>
          </a:p>
        </p:txBody>
      </p:sp>
      <p:sp>
        <p:nvSpPr>
          <p:cNvPr id="37" name="Text 35"/>
          <p:cNvSpPr/>
          <p:nvPr/>
        </p:nvSpPr>
        <p:spPr>
          <a:xfrm>
            <a:off x="6323076" y="4974336"/>
            <a:ext cx="245287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C6B5E"/>
                </a:solidFill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•  실패 시 자동 재시도 3회</a:t>
            </a:r>
            <a:endParaRPr lang="en-US" sz="1200" dirty="0">
              <a:latin typeface="나눔스퀘어라운드 ExtraBold" panose="020B0600000101010101" pitchFamily="50" charset="-127"/>
              <a:ea typeface="나눔스퀘어라운드 ExtraBold" panose="020B0600000101010101" pitchFamily="50" charset="-127"/>
            </a:endParaRPr>
          </a:p>
        </p:txBody>
      </p:sp>
      <p:sp>
        <p:nvSpPr>
          <p:cNvPr id="38" name="Shape 36"/>
          <p:cNvSpPr/>
          <p:nvPr/>
        </p:nvSpPr>
        <p:spPr>
          <a:xfrm>
            <a:off x="9095994" y="2468880"/>
            <a:ext cx="2727198" cy="3429000"/>
          </a:xfrm>
          <a:prstGeom prst="rect">
            <a:avLst/>
          </a:prstGeom>
          <a:solidFill>
            <a:srgbClr val="FAF8F2"/>
          </a:solidFill>
          <a:ln w="12700">
            <a:solidFill>
              <a:srgbClr val="DDD8CC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9187434" y="2560320"/>
            <a:ext cx="254431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C3A2E"/>
                </a:solidFill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📔  리플렉션 노트</a:t>
            </a:r>
            <a:endParaRPr lang="en-US" sz="1400" dirty="0">
              <a:latin typeface="나눔스퀘어라운드 ExtraBold" panose="020B0600000101010101" pitchFamily="50" charset="-127"/>
              <a:ea typeface="나눔스퀘어라운드 ExtraBold" panose="020B0600000101010101" pitchFamily="50" charset="-127"/>
            </a:endParaRPr>
          </a:p>
        </p:txBody>
      </p:sp>
      <p:sp>
        <p:nvSpPr>
          <p:cNvPr id="40" name="Text 38"/>
          <p:cNvSpPr/>
          <p:nvPr/>
        </p:nvSpPr>
        <p:spPr>
          <a:xfrm>
            <a:off x="9233154" y="2999232"/>
            <a:ext cx="245287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C6B5E"/>
                </a:solidFill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•  이미지 확인 후 신체 반응 질문</a:t>
            </a:r>
            <a:endParaRPr lang="en-US" sz="1200" dirty="0">
              <a:latin typeface="나눔스퀘어라운드 ExtraBold" panose="020B0600000101010101" pitchFamily="50" charset="-127"/>
              <a:ea typeface="나눔스퀘어라운드 ExtraBold" panose="020B0600000101010101" pitchFamily="50" charset="-127"/>
            </a:endParaRPr>
          </a:p>
        </p:txBody>
      </p:sp>
      <p:sp>
        <p:nvSpPr>
          <p:cNvPr id="41" name="Text 39"/>
          <p:cNvSpPr/>
          <p:nvPr/>
        </p:nvSpPr>
        <p:spPr>
          <a:xfrm>
            <a:off x="9233154" y="3657600"/>
            <a:ext cx="245287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C6B5E"/>
                </a:solidFill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•  심리적 반응 + 감정 기록 저장</a:t>
            </a:r>
            <a:endParaRPr lang="en-US" sz="1200" dirty="0">
              <a:latin typeface="나눔스퀘어라운드 ExtraBold" panose="020B0600000101010101" pitchFamily="50" charset="-127"/>
              <a:ea typeface="나눔스퀘어라운드 ExtraBold" panose="020B0600000101010101" pitchFamily="50" charset="-127"/>
            </a:endParaRPr>
          </a:p>
        </p:txBody>
      </p:sp>
      <p:sp>
        <p:nvSpPr>
          <p:cNvPr id="42" name="Text 40"/>
          <p:cNvSpPr/>
          <p:nvPr/>
        </p:nvSpPr>
        <p:spPr>
          <a:xfrm>
            <a:off x="9233154" y="4315968"/>
            <a:ext cx="245287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C6B5E"/>
                </a:solidFill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•  개인 갤러리 날짜별 보관</a:t>
            </a:r>
            <a:endParaRPr lang="en-US" sz="1200" dirty="0">
              <a:latin typeface="나눔스퀘어라운드 ExtraBold" panose="020B0600000101010101" pitchFamily="50" charset="-127"/>
              <a:ea typeface="나눔스퀘어라운드 ExtraBold" panose="020B0600000101010101" pitchFamily="50" charset="-127"/>
            </a:endParaRPr>
          </a:p>
        </p:txBody>
      </p:sp>
      <p:sp>
        <p:nvSpPr>
          <p:cNvPr id="43" name="Text 41"/>
          <p:cNvSpPr/>
          <p:nvPr/>
        </p:nvSpPr>
        <p:spPr>
          <a:xfrm>
            <a:off x="9233154" y="4974336"/>
            <a:ext cx="245287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C6B5E"/>
                </a:solidFill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•  변천사 슬라이드로 확인 가능</a:t>
            </a:r>
            <a:endParaRPr lang="en-US" sz="1200" dirty="0">
              <a:latin typeface="나눔스퀘어라운드 ExtraBold" panose="020B0600000101010101" pitchFamily="50" charset="-127"/>
              <a:ea typeface="나눔스퀘어라운드 ExtraBold" panose="020B0600000101010101" pitchFamily="50" charset="-127"/>
            </a:endParaRPr>
          </a:p>
        </p:txBody>
      </p:sp>
      <p:sp>
        <p:nvSpPr>
          <p:cNvPr id="44" name="Shape 42"/>
          <p:cNvSpPr/>
          <p:nvPr/>
        </p:nvSpPr>
        <p:spPr>
          <a:xfrm>
            <a:off x="0" y="6309360"/>
            <a:ext cx="12188952" cy="548640"/>
          </a:xfrm>
          <a:prstGeom prst="rect">
            <a:avLst/>
          </a:prstGeom>
          <a:solidFill>
            <a:srgbClr val="2C3E35"/>
          </a:solidFill>
          <a:ln/>
        </p:spPr>
      </p:sp>
      <p:sp>
        <p:nvSpPr>
          <p:cNvPr id="45" name="Text 43"/>
          <p:cNvSpPr/>
          <p:nvPr/>
        </p:nvSpPr>
        <p:spPr>
          <a:xfrm>
            <a:off x="365760" y="6336792"/>
            <a:ext cx="114574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EFB"/>
                </a:solidFill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▶  4단계 구조화 대화 → AI 이미지 생성 → 리플렉션 — 과학적 EFT 경험을 자동화한다</a:t>
            </a:r>
            <a:endParaRPr lang="en-US" sz="1500" dirty="0">
              <a:latin typeface="나눔스퀘어라운드 ExtraBold" panose="020B0600000101010101" pitchFamily="50" charset="-127"/>
              <a:ea typeface="나눔스퀘어라운드 ExtraBold" panose="020B0600000101010101" pitchFamily="50" charset="-127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EF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2C3E35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4A9E75"/>
          </a:solidFill>
          <a:ln/>
        </p:spPr>
      </p:sp>
      <p:sp>
        <p:nvSpPr>
          <p:cNvPr id="5" name="Text 3"/>
          <p:cNvSpPr/>
          <p:nvPr/>
        </p:nvSpPr>
        <p:spPr>
          <a:xfrm>
            <a:off x="365760" y="109728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EFB"/>
                </a:solidFill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  <a:cs typeface="Pretendard" pitchFamily="34" charset="-120"/>
              </a:rPr>
              <a:t>4개 핵심 모듈</a:t>
            </a:r>
            <a:endParaRPr lang="en-US" sz="2800" dirty="0">
              <a:latin typeface="나눔스퀘어라운드 ExtraBold" panose="020B0600000101010101" pitchFamily="50" charset="-127"/>
              <a:ea typeface="나눔스퀘어라운드 ExtraBold" panose="020B0600000101010101" pitchFamily="50" charset="-127"/>
            </a:endParaRPr>
          </a:p>
        </p:txBody>
      </p:sp>
      <p:sp>
        <p:nvSpPr>
          <p:cNvPr id="6" name="Text 4"/>
          <p:cNvSpPr/>
          <p:nvPr/>
        </p:nvSpPr>
        <p:spPr>
          <a:xfrm>
            <a:off x="365760" y="676656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A8C4B2"/>
                </a:solidFill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학생 대시보드 — 마음일기 · 미래의 나 · 자가진단 · 미로 풀기</a:t>
            </a:r>
            <a:endParaRPr lang="en-US" sz="1500" dirty="0">
              <a:latin typeface="나눔스퀘어라운드 ExtraBold" panose="020B0600000101010101" pitchFamily="50" charset="-127"/>
              <a:ea typeface="나눔스퀘어라운드 ExtraBold" panose="020B0600000101010101" pitchFamily="50" charset="-127"/>
            </a:endParaRPr>
          </a:p>
        </p:txBody>
      </p:sp>
      <p:sp>
        <p:nvSpPr>
          <p:cNvPr id="7" name="Text 5"/>
          <p:cNvSpPr/>
          <p:nvPr/>
        </p:nvSpPr>
        <p:spPr>
          <a:xfrm>
            <a:off x="11430000" y="109728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400" dirty="0">
                <a:solidFill>
                  <a:srgbClr val="7A9E8A"/>
                </a:solidFill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07</a:t>
            </a:r>
            <a:endParaRPr lang="en-US" sz="1400" dirty="0">
              <a:latin typeface="나눔스퀘어라운드 ExtraBold" panose="020B0600000101010101" pitchFamily="50" charset="-127"/>
              <a:ea typeface="나눔스퀘어라운드 ExtraBold" panose="020B0600000101010101" pitchFamily="50" charset="-127"/>
            </a:endParaRPr>
          </a:p>
        </p:txBody>
      </p:sp>
      <p:sp>
        <p:nvSpPr>
          <p:cNvPr id="8" name="Shape 6"/>
          <p:cNvSpPr/>
          <p:nvPr/>
        </p:nvSpPr>
        <p:spPr>
          <a:xfrm>
            <a:off x="365760" y="1298448"/>
            <a:ext cx="5637276" cy="2103120"/>
          </a:xfrm>
          <a:prstGeom prst="rect">
            <a:avLst/>
          </a:prstGeom>
          <a:solidFill>
            <a:srgbClr val="FAF8F2"/>
          </a:solidFill>
          <a:ln w="25400">
            <a:solidFill>
              <a:srgbClr val="4A9E7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65760" y="1298448"/>
            <a:ext cx="5637276" cy="54864"/>
          </a:xfrm>
          <a:prstGeom prst="rect">
            <a:avLst/>
          </a:prstGeom>
          <a:solidFill>
            <a:srgbClr val="4A9E75"/>
          </a:solidFill>
          <a:ln/>
        </p:spPr>
      </p:sp>
      <p:sp>
        <p:nvSpPr>
          <p:cNvPr id="10" name="Shape 8"/>
          <p:cNvSpPr/>
          <p:nvPr/>
        </p:nvSpPr>
        <p:spPr>
          <a:xfrm>
            <a:off x="4677156" y="1408176"/>
            <a:ext cx="1234440" cy="274320"/>
          </a:xfrm>
          <a:prstGeom prst="rect">
            <a:avLst/>
          </a:prstGeom>
          <a:solidFill>
            <a:srgbClr val="4A9E75"/>
          </a:solidFill>
          <a:ln/>
        </p:spPr>
      </p:sp>
      <p:sp>
        <p:nvSpPr>
          <p:cNvPr id="11" name="Text 9"/>
          <p:cNvSpPr/>
          <p:nvPr/>
        </p:nvSpPr>
        <p:spPr>
          <a:xfrm>
            <a:off x="4677156" y="1417320"/>
            <a:ext cx="12344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EFB"/>
                </a:solidFill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Phase 1</a:t>
            </a:r>
            <a:endParaRPr lang="en-US" sz="1100" dirty="0">
              <a:latin typeface="나눔스퀘어라운드 ExtraBold" panose="020B0600000101010101" pitchFamily="50" charset="-127"/>
              <a:ea typeface="나눔스퀘어라운드 ExtraBold" panose="020B0600000101010101" pitchFamily="50" charset="-127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502920" y="1408176"/>
            <a:ext cx="412851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C3A2E"/>
                </a:solidFill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📖  마음일기</a:t>
            </a:r>
            <a:endParaRPr lang="en-US" sz="1800" dirty="0">
              <a:latin typeface="나눔스퀘어라운드 ExtraBold" panose="020B0600000101010101" pitchFamily="50" charset="-127"/>
              <a:ea typeface="나눔스퀘어라운드 ExtraBold" panose="020B0600000101010101" pitchFamily="50" charset="-127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502920" y="1810512"/>
            <a:ext cx="53629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C6B5E"/>
                </a:solidFill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매일 감정을 자유 텍스트로 기록</a:t>
            </a:r>
            <a:endParaRPr lang="en-US" sz="1300" dirty="0">
              <a:latin typeface="나눔스퀘어라운드 ExtraBold" panose="020B0600000101010101" pitchFamily="50" charset="-127"/>
              <a:ea typeface="나눔스퀘어라운드 ExtraBold" panose="020B0600000101010101" pitchFamily="50" charset="-127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548640" y="2194560"/>
            <a:ext cx="263575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C6B5E"/>
                </a:solidFill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✔  Claude API 감정 Valence 분석</a:t>
            </a:r>
            <a:endParaRPr lang="en-US" sz="1200" dirty="0">
              <a:latin typeface="나눔스퀘어라운드 ExtraBold" panose="020B0600000101010101" pitchFamily="50" charset="-127"/>
              <a:ea typeface="나눔스퀘어라운드 ExtraBold" panose="020B0600000101010101" pitchFamily="50" charset="-127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3230118" y="2194560"/>
            <a:ext cx="263575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C6B5E"/>
                </a:solidFill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✔  감정 상태 → 꽃 SVG 시각화</a:t>
            </a:r>
            <a:endParaRPr lang="en-US" sz="1200" dirty="0">
              <a:latin typeface="나눔스퀘어라운드 ExtraBold" panose="020B0600000101010101" pitchFamily="50" charset="-127"/>
              <a:ea typeface="나눔스퀘어라운드 ExtraBold" panose="020B0600000101010101" pitchFamily="50" charset="-127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548640" y="2697480"/>
            <a:ext cx="263575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C6B5E"/>
                </a:solidFill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✔  날짜별 감정 꽃 갤러리</a:t>
            </a:r>
            <a:endParaRPr lang="en-US" sz="1200" dirty="0">
              <a:latin typeface="나눔스퀘어라운드 ExtraBold" panose="020B0600000101010101" pitchFamily="50" charset="-127"/>
              <a:ea typeface="나눔스퀘어라운드 ExtraBold" panose="020B0600000101010101" pitchFamily="50" charset="-127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3230118" y="2697480"/>
            <a:ext cx="263575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C6B5E"/>
                </a:solidFill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✔  위기 신호 자동 감지 + 알림</a:t>
            </a:r>
            <a:endParaRPr lang="en-US" sz="1200" dirty="0">
              <a:latin typeface="나눔스퀘어라운드 ExtraBold" panose="020B0600000101010101" pitchFamily="50" charset="-127"/>
              <a:ea typeface="나눔스퀘어라운드 ExtraBold" panose="020B0600000101010101" pitchFamily="50" charset="-127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6185916" y="1298448"/>
            <a:ext cx="5637276" cy="2103120"/>
          </a:xfrm>
          <a:prstGeom prst="rect">
            <a:avLst/>
          </a:prstGeom>
          <a:solidFill>
            <a:srgbClr val="FAF8F2"/>
          </a:solidFill>
          <a:ln w="25400">
            <a:solidFill>
              <a:srgbClr val="5B6FAD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185916" y="1298448"/>
            <a:ext cx="5637276" cy="54864"/>
          </a:xfrm>
          <a:prstGeom prst="rect">
            <a:avLst/>
          </a:prstGeom>
          <a:solidFill>
            <a:srgbClr val="5B6FAD"/>
          </a:solidFill>
          <a:ln/>
        </p:spPr>
      </p:sp>
      <p:sp>
        <p:nvSpPr>
          <p:cNvPr id="20" name="Shape 18"/>
          <p:cNvSpPr/>
          <p:nvPr/>
        </p:nvSpPr>
        <p:spPr>
          <a:xfrm>
            <a:off x="10497312" y="1408176"/>
            <a:ext cx="1234440" cy="274320"/>
          </a:xfrm>
          <a:prstGeom prst="rect">
            <a:avLst/>
          </a:prstGeom>
          <a:solidFill>
            <a:srgbClr val="5B6FAD"/>
          </a:solidFill>
          <a:ln/>
        </p:spPr>
      </p:sp>
      <p:sp>
        <p:nvSpPr>
          <p:cNvPr id="21" name="Text 19"/>
          <p:cNvSpPr/>
          <p:nvPr/>
        </p:nvSpPr>
        <p:spPr>
          <a:xfrm>
            <a:off x="10497312" y="1417320"/>
            <a:ext cx="12344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EFB"/>
                </a:solidFill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Phase 2 핵심</a:t>
            </a:r>
            <a:endParaRPr lang="en-US" sz="1100" dirty="0">
              <a:latin typeface="나눔스퀘어라운드 ExtraBold" panose="020B0600000101010101" pitchFamily="50" charset="-127"/>
              <a:ea typeface="나눔스퀘어라운드 ExtraBold" panose="020B0600000101010101" pitchFamily="50" charset="-127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6323076" y="1408176"/>
            <a:ext cx="412851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C3A2E"/>
                </a:solidFill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🔮  미래의 나</a:t>
            </a:r>
            <a:endParaRPr lang="en-US" sz="1800" dirty="0">
              <a:latin typeface="나눔스퀘어라운드 ExtraBold" panose="020B0600000101010101" pitchFamily="50" charset="-127"/>
              <a:ea typeface="나눔스퀘어라운드 ExtraBold" panose="020B0600000101010101" pitchFamily="50" charset="-127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6323076" y="1810512"/>
            <a:ext cx="53629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C6B5E"/>
                </a:solidFill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CIREF 4단계 AI 자화상 생성</a:t>
            </a:r>
            <a:endParaRPr lang="en-US" sz="1300" dirty="0">
              <a:latin typeface="나눔스퀘어라운드 ExtraBold" panose="020B0600000101010101" pitchFamily="50" charset="-127"/>
              <a:ea typeface="나눔스퀘어라운드 ExtraBold" panose="020B0600000101010101" pitchFamily="50" charset="-127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6368796" y="2194560"/>
            <a:ext cx="263575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C6B5E"/>
                </a:solidFill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✔  4단계 구조화 대화 (AI 재질문)</a:t>
            </a:r>
            <a:endParaRPr lang="en-US" sz="1200" dirty="0">
              <a:latin typeface="나눔스퀘어라운드 ExtraBold" panose="020B0600000101010101" pitchFamily="50" charset="-127"/>
              <a:ea typeface="나눔스퀘어라운드 ExtraBold" panose="020B0600000101010101" pitchFamily="50" charset="-127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9050274" y="2194560"/>
            <a:ext cx="263575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C6B5E"/>
                </a:solidFill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✔  5년·10년 후 AI 이미지 생성</a:t>
            </a:r>
            <a:endParaRPr lang="en-US" sz="1200" dirty="0">
              <a:latin typeface="나눔스퀘어라운드 ExtraBold" panose="020B0600000101010101" pitchFamily="50" charset="-127"/>
              <a:ea typeface="나눔스퀘어라운드 ExtraBold" panose="020B0600000101010101" pitchFamily="50" charset="-127"/>
            </a:endParaRPr>
          </a:p>
        </p:txBody>
      </p:sp>
      <p:sp>
        <p:nvSpPr>
          <p:cNvPr id="26" name="Text 24"/>
          <p:cNvSpPr/>
          <p:nvPr/>
        </p:nvSpPr>
        <p:spPr>
          <a:xfrm>
            <a:off x="6368796" y="2697480"/>
            <a:ext cx="263575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C6B5E"/>
                </a:solidFill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✔  리플렉션 노트 저장</a:t>
            </a:r>
            <a:endParaRPr lang="en-US" sz="1200" dirty="0">
              <a:latin typeface="나눔스퀘어라운드 ExtraBold" panose="020B0600000101010101" pitchFamily="50" charset="-127"/>
              <a:ea typeface="나눔스퀘어라운드 ExtraBold" panose="020B0600000101010101" pitchFamily="50" charset="-127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9050274" y="2697480"/>
            <a:ext cx="263575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C6B5E"/>
                </a:solidFill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✔  이미지 변천사 갤러리</a:t>
            </a:r>
            <a:endParaRPr lang="en-US" sz="1200" dirty="0">
              <a:latin typeface="나눔스퀘어라운드 ExtraBold" panose="020B0600000101010101" pitchFamily="50" charset="-127"/>
              <a:ea typeface="나눔스퀘어라운드 ExtraBold" panose="020B0600000101010101" pitchFamily="50" charset="-127"/>
            </a:endParaRPr>
          </a:p>
        </p:txBody>
      </p:sp>
      <p:sp>
        <p:nvSpPr>
          <p:cNvPr id="28" name="Shape 26"/>
          <p:cNvSpPr/>
          <p:nvPr/>
        </p:nvSpPr>
        <p:spPr>
          <a:xfrm>
            <a:off x="365760" y="3602736"/>
            <a:ext cx="5637276" cy="2103120"/>
          </a:xfrm>
          <a:prstGeom prst="rect">
            <a:avLst/>
          </a:prstGeom>
          <a:solidFill>
            <a:srgbClr val="FAF8F2"/>
          </a:solidFill>
          <a:ln w="25400">
            <a:solidFill>
              <a:srgbClr val="4A9E75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65760" y="3602736"/>
            <a:ext cx="5637276" cy="54864"/>
          </a:xfrm>
          <a:prstGeom prst="rect">
            <a:avLst/>
          </a:prstGeom>
          <a:solidFill>
            <a:srgbClr val="4A9E75"/>
          </a:solidFill>
          <a:ln/>
        </p:spPr>
      </p:sp>
      <p:sp>
        <p:nvSpPr>
          <p:cNvPr id="30" name="Shape 28"/>
          <p:cNvSpPr/>
          <p:nvPr/>
        </p:nvSpPr>
        <p:spPr>
          <a:xfrm>
            <a:off x="4677156" y="3712464"/>
            <a:ext cx="1234440" cy="274320"/>
          </a:xfrm>
          <a:prstGeom prst="rect">
            <a:avLst/>
          </a:prstGeom>
          <a:solidFill>
            <a:srgbClr val="4A9E75"/>
          </a:solidFill>
          <a:ln/>
        </p:spPr>
      </p:sp>
      <p:sp>
        <p:nvSpPr>
          <p:cNvPr id="31" name="Text 29"/>
          <p:cNvSpPr/>
          <p:nvPr/>
        </p:nvSpPr>
        <p:spPr>
          <a:xfrm>
            <a:off x="4677156" y="3721608"/>
            <a:ext cx="12344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EFB"/>
                </a:solidFill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Phase 1</a:t>
            </a:r>
            <a:endParaRPr lang="en-US" sz="1100" dirty="0">
              <a:latin typeface="나눔스퀘어라운드 ExtraBold" panose="020B0600000101010101" pitchFamily="50" charset="-127"/>
              <a:ea typeface="나눔스퀘어라운드 ExtraBold" panose="020B0600000101010101" pitchFamily="50" charset="-127"/>
            </a:endParaRPr>
          </a:p>
        </p:txBody>
      </p:sp>
      <p:sp>
        <p:nvSpPr>
          <p:cNvPr id="32" name="Text 30"/>
          <p:cNvSpPr/>
          <p:nvPr/>
        </p:nvSpPr>
        <p:spPr>
          <a:xfrm>
            <a:off x="502920" y="3712464"/>
            <a:ext cx="412851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C3A2E"/>
                </a:solidFill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📊  나의 자가진단</a:t>
            </a:r>
            <a:endParaRPr lang="en-US" sz="1800" dirty="0">
              <a:latin typeface="나눔스퀘어라운드 ExtraBold" panose="020B0600000101010101" pitchFamily="50" charset="-127"/>
              <a:ea typeface="나눔스퀘어라운드 ExtraBold" panose="020B0600000101010101" pitchFamily="50" charset="-127"/>
            </a:endParaRPr>
          </a:p>
        </p:txBody>
      </p:sp>
      <p:sp>
        <p:nvSpPr>
          <p:cNvPr id="33" name="Text 31"/>
          <p:cNvSpPr/>
          <p:nvPr/>
        </p:nvSpPr>
        <p:spPr>
          <a:xfrm>
            <a:off x="502920" y="4114800"/>
            <a:ext cx="53629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C6B5E"/>
                </a:solidFill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스마트폰 중독·우울·불안 정기 측정</a:t>
            </a:r>
            <a:endParaRPr lang="en-US" sz="1300" dirty="0">
              <a:latin typeface="나눔스퀘어라운드 ExtraBold" panose="020B0600000101010101" pitchFamily="50" charset="-127"/>
              <a:ea typeface="나눔스퀘어라운드 ExtraBold" panose="020B0600000101010101" pitchFamily="50" charset="-127"/>
            </a:endParaRPr>
          </a:p>
        </p:txBody>
      </p:sp>
      <p:sp>
        <p:nvSpPr>
          <p:cNvPr id="34" name="Text 32"/>
          <p:cNvSpPr/>
          <p:nvPr/>
        </p:nvSpPr>
        <p:spPr>
          <a:xfrm>
            <a:off x="548640" y="4498848"/>
            <a:ext cx="263575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C6B5E"/>
                </a:solidFill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✔  SAS 기반 중독 척도 (10문항)</a:t>
            </a:r>
            <a:endParaRPr lang="en-US" sz="1200" dirty="0">
              <a:latin typeface="나눔스퀘어라운드 ExtraBold" panose="020B0600000101010101" pitchFamily="50" charset="-127"/>
              <a:ea typeface="나눔스퀘어라운드 ExtraBold" panose="020B0600000101010101" pitchFamily="50" charset="-127"/>
            </a:endParaRPr>
          </a:p>
        </p:txBody>
      </p:sp>
      <p:sp>
        <p:nvSpPr>
          <p:cNvPr id="35" name="Text 33"/>
          <p:cNvSpPr/>
          <p:nvPr/>
        </p:nvSpPr>
        <p:spPr>
          <a:xfrm>
            <a:off x="3230118" y="4498848"/>
            <a:ext cx="263575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C6B5E"/>
                </a:solidFill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✔  PHQ-A 청소년 우울 척도</a:t>
            </a:r>
            <a:endParaRPr lang="en-US" sz="1200" dirty="0">
              <a:latin typeface="나눔스퀘어라운드 ExtraBold" panose="020B0600000101010101" pitchFamily="50" charset="-127"/>
              <a:ea typeface="나눔스퀘어라운드 ExtraBold" panose="020B0600000101010101" pitchFamily="50" charset="-127"/>
            </a:endParaRPr>
          </a:p>
        </p:txBody>
      </p:sp>
      <p:sp>
        <p:nvSpPr>
          <p:cNvPr id="36" name="Text 34"/>
          <p:cNvSpPr/>
          <p:nvPr/>
        </p:nvSpPr>
        <p:spPr>
          <a:xfrm>
            <a:off x="548640" y="5001768"/>
            <a:ext cx="263575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C6B5E"/>
                </a:solidFill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✔  점수 변화 추이 그래프</a:t>
            </a:r>
            <a:endParaRPr lang="en-US" sz="1200" dirty="0">
              <a:latin typeface="나눔스퀘어라운드 ExtraBold" panose="020B0600000101010101" pitchFamily="50" charset="-127"/>
              <a:ea typeface="나눔스퀘어라운드 ExtraBold" panose="020B0600000101010101" pitchFamily="50" charset="-127"/>
            </a:endParaRPr>
          </a:p>
        </p:txBody>
      </p:sp>
      <p:sp>
        <p:nvSpPr>
          <p:cNvPr id="37" name="Text 35"/>
          <p:cNvSpPr/>
          <p:nvPr/>
        </p:nvSpPr>
        <p:spPr>
          <a:xfrm>
            <a:off x="3230118" y="5001768"/>
            <a:ext cx="263575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C6B5E"/>
                </a:solidFill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✔  사용량 × 정서 상관관계</a:t>
            </a:r>
            <a:endParaRPr lang="en-US" sz="1200" dirty="0">
              <a:latin typeface="나눔스퀘어라운드 ExtraBold" panose="020B0600000101010101" pitchFamily="50" charset="-127"/>
              <a:ea typeface="나눔스퀘어라운드 ExtraBold" panose="020B0600000101010101" pitchFamily="50" charset="-127"/>
            </a:endParaRPr>
          </a:p>
        </p:txBody>
      </p:sp>
      <p:sp>
        <p:nvSpPr>
          <p:cNvPr id="38" name="Shape 36"/>
          <p:cNvSpPr/>
          <p:nvPr/>
        </p:nvSpPr>
        <p:spPr>
          <a:xfrm>
            <a:off x="6185916" y="3602736"/>
            <a:ext cx="5637276" cy="2103120"/>
          </a:xfrm>
          <a:prstGeom prst="rect">
            <a:avLst/>
          </a:prstGeom>
          <a:solidFill>
            <a:srgbClr val="FAF8F2"/>
          </a:solidFill>
          <a:ln w="25400">
            <a:solidFill>
              <a:srgbClr val="C07820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6185916" y="3602736"/>
            <a:ext cx="5637276" cy="54864"/>
          </a:xfrm>
          <a:prstGeom prst="rect">
            <a:avLst/>
          </a:prstGeom>
          <a:solidFill>
            <a:srgbClr val="C07820"/>
          </a:solidFill>
          <a:ln/>
        </p:spPr>
      </p:sp>
      <p:sp>
        <p:nvSpPr>
          <p:cNvPr id="40" name="Shape 38"/>
          <p:cNvSpPr/>
          <p:nvPr/>
        </p:nvSpPr>
        <p:spPr>
          <a:xfrm>
            <a:off x="10497312" y="3712464"/>
            <a:ext cx="1234440" cy="274320"/>
          </a:xfrm>
          <a:prstGeom prst="rect">
            <a:avLst/>
          </a:prstGeom>
          <a:solidFill>
            <a:srgbClr val="C07820"/>
          </a:solidFill>
          <a:ln/>
        </p:spPr>
      </p:sp>
      <p:sp>
        <p:nvSpPr>
          <p:cNvPr id="41" name="Text 39"/>
          <p:cNvSpPr/>
          <p:nvPr/>
        </p:nvSpPr>
        <p:spPr>
          <a:xfrm>
            <a:off x="10497312" y="3721608"/>
            <a:ext cx="12344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EFB"/>
                </a:solidFill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Phase 3</a:t>
            </a:r>
            <a:endParaRPr lang="en-US" sz="1100" dirty="0">
              <a:latin typeface="나눔스퀘어라운드 ExtraBold" panose="020B0600000101010101" pitchFamily="50" charset="-127"/>
              <a:ea typeface="나눔스퀘어라운드 ExtraBold" panose="020B0600000101010101" pitchFamily="50" charset="-127"/>
            </a:endParaRPr>
          </a:p>
        </p:txBody>
      </p:sp>
      <p:sp>
        <p:nvSpPr>
          <p:cNvPr id="42" name="Text 40"/>
          <p:cNvSpPr/>
          <p:nvPr/>
        </p:nvSpPr>
        <p:spPr>
          <a:xfrm>
            <a:off x="6323076" y="3712464"/>
            <a:ext cx="412851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C3A2E"/>
                </a:solidFill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🧩  미로 풀기</a:t>
            </a:r>
            <a:endParaRPr lang="en-US" sz="1800" dirty="0">
              <a:latin typeface="나눔스퀘어라운드 ExtraBold" panose="020B0600000101010101" pitchFamily="50" charset="-127"/>
              <a:ea typeface="나눔스퀘어라운드 ExtraBold" panose="020B0600000101010101" pitchFamily="50" charset="-127"/>
            </a:endParaRPr>
          </a:p>
        </p:txBody>
      </p:sp>
      <p:sp>
        <p:nvSpPr>
          <p:cNvPr id="43" name="Text 41"/>
          <p:cNvSpPr/>
          <p:nvPr/>
        </p:nvSpPr>
        <p:spPr>
          <a:xfrm>
            <a:off x="6323076" y="4114800"/>
            <a:ext cx="53629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C6B5E"/>
                </a:solidFill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두뇌 활동 대안 제공 디지털 게임</a:t>
            </a:r>
            <a:endParaRPr lang="en-US" sz="1300" dirty="0">
              <a:latin typeface="나눔스퀘어라운드 ExtraBold" panose="020B0600000101010101" pitchFamily="50" charset="-127"/>
              <a:ea typeface="나눔스퀘어라운드 ExtraBold" panose="020B0600000101010101" pitchFamily="50" charset="-127"/>
            </a:endParaRPr>
          </a:p>
        </p:txBody>
      </p:sp>
      <p:sp>
        <p:nvSpPr>
          <p:cNvPr id="44" name="Text 42"/>
          <p:cNvSpPr/>
          <p:nvPr/>
        </p:nvSpPr>
        <p:spPr>
          <a:xfrm>
            <a:off x="6368796" y="4498848"/>
            <a:ext cx="263575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C6B5E"/>
                </a:solidFill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✔  매일 새 미로 (난이도 3단계)</a:t>
            </a:r>
            <a:endParaRPr lang="en-US" sz="1200" dirty="0">
              <a:latin typeface="나눔스퀘어라운드 ExtraBold" panose="020B0600000101010101" pitchFamily="50" charset="-127"/>
              <a:ea typeface="나눔스퀘어라운드 ExtraBold" panose="020B0600000101010101" pitchFamily="50" charset="-127"/>
            </a:endParaRPr>
          </a:p>
        </p:txBody>
      </p:sp>
      <p:sp>
        <p:nvSpPr>
          <p:cNvPr id="45" name="Text 43"/>
          <p:cNvSpPr/>
          <p:nvPr/>
        </p:nvSpPr>
        <p:spPr>
          <a:xfrm>
            <a:off x="9050274" y="4498848"/>
            <a:ext cx="263575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C6B5E"/>
                </a:solidFill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✔  포인트 적립 + 뱃지 시스템</a:t>
            </a:r>
            <a:endParaRPr lang="en-US" sz="1200" dirty="0">
              <a:latin typeface="나눔스퀘어라운드 ExtraBold" panose="020B0600000101010101" pitchFamily="50" charset="-127"/>
              <a:ea typeface="나눔스퀘어라운드 ExtraBold" panose="020B0600000101010101" pitchFamily="50" charset="-127"/>
            </a:endParaRPr>
          </a:p>
        </p:txBody>
      </p:sp>
      <p:sp>
        <p:nvSpPr>
          <p:cNvPr id="46" name="Text 44"/>
          <p:cNvSpPr/>
          <p:nvPr/>
        </p:nvSpPr>
        <p:spPr>
          <a:xfrm>
            <a:off x="6368796" y="5001768"/>
            <a:ext cx="263575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C6B5E"/>
                </a:solidFill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✔  일일 15분 플레이 상한</a:t>
            </a:r>
            <a:endParaRPr lang="en-US" sz="1200" dirty="0">
              <a:latin typeface="나눔스퀘어라운드 ExtraBold" panose="020B0600000101010101" pitchFamily="50" charset="-127"/>
              <a:ea typeface="나눔스퀘어라운드 ExtraBold" panose="020B0600000101010101" pitchFamily="50" charset="-127"/>
            </a:endParaRPr>
          </a:p>
        </p:txBody>
      </p:sp>
      <p:sp>
        <p:nvSpPr>
          <p:cNvPr id="47" name="Text 45"/>
          <p:cNvSpPr/>
          <p:nvPr/>
        </p:nvSpPr>
        <p:spPr>
          <a:xfrm>
            <a:off x="9050274" y="5001768"/>
            <a:ext cx="263575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C6B5E"/>
                </a:solidFill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✔  참여도 지표로 관리자 확인</a:t>
            </a:r>
            <a:endParaRPr lang="en-US" sz="1200" dirty="0">
              <a:latin typeface="나눔스퀘어라운드 ExtraBold" panose="020B0600000101010101" pitchFamily="50" charset="-127"/>
              <a:ea typeface="나눔스퀘어라운드 ExtraBold" panose="020B0600000101010101" pitchFamily="50" charset="-127"/>
            </a:endParaRPr>
          </a:p>
        </p:txBody>
      </p:sp>
      <p:sp>
        <p:nvSpPr>
          <p:cNvPr id="48" name="Shape 46"/>
          <p:cNvSpPr/>
          <p:nvPr/>
        </p:nvSpPr>
        <p:spPr>
          <a:xfrm>
            <a:off x="0" y="6309360"/>
            <a:ext cx="12188952" cy="548640"/>
          </a:xfrm>
          <a:prstGeom prst="rect">
            <a:avLst/>
          </a:prstGeom>
          <a:solidFill>
            <a:srgbClr val="2C3E35"/>
          </a:solidFill>
          <a:ln/>
        </p:spPr>
      </p:sp>
      <p:sp>
        <p:nvSpPr>
          <p:cNvPr id="49" name="Text 47"/>
          <p:cNvSpPr/>
          <p:nvPr/>
        </p:nvSpPr>
        <p:spPr>
          <a:xfrm>
            <a:off x="365760" y="6336792"/>
            <a:ext cx="114574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EFB"/>
                </a:solidFill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▶  4개 모듈이 감정·인지·행동 모두를 동시에 다룬다 — 포괄적 과몰입 개입 시스템</a:t>
            </a:r>
            <a:endParaRPr lang="en-US" sz="1500" dirty="0">
              <a:latin typeface="나눔스퀘어라운드 ExtraBold" panose="020B0600000101010101" pitchFamily="50" charset="-127"/>
              <a:ea typeface="나눔스퀘어라운드 ExtraBold" panose="020B0600000101010101" pitchFamily="50" charset="-127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EF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2C3E35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4A9E75"/>
          </a:solidFill>
          <a:ln/>
        </p:spPr>
      </p:sp>
      <p:sp>
        <p:nvSpPr>
          <p:cNvPr id="5" name="Text 3"/>
          <p:cNvSpPr/>
          <p:nvPr/>
        </p:nvSpPr>
        <p:spPr>
          <a:xfrm>
            <a:off x="365760" y="109728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EFB"/>
                </a:solidFill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  <a:cs typeface="Pretendard" pitchFamily="34" charset="-120"/>
              </a:rPr>
              <a:t>계정 구조 및 권한 체계</a:t>
            </a:r>
            <a:endParaRPr lang="en-US" sz="2800" dirty="0">
              <a:latin typeface="나눔스퀘어라운드 ExtraBold" panose="020B0600000101010101" pitchFamily="50" charset="-127"/>
              <a:ea typeface="나눔스퀘어라운드 ExtraBold" panose="020B0600000101010101" pitchFamily="50" charset="-127"/>
            </a:endParaRPr>
          </a:p>
        </p:txBody>
      </p:sp>
      <p:sp>
        <p:nvSpPr>
          <p:cNvPr id="6" name="Text 4"/>
          <p:cNvSpPr/>
          <p:nvPr/>
        </p:nvSpPr>
        <p:spPr>
          <a:xfrm>
            <a:off x="365760" y="676656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A8C4B2"/>
                </a:solidFill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3-Tier 계층 — 수퍼바이저 → 관리자 → 학생</a:t>
            </a:r>
            <a:endParaRPr lang="en-US" sz="1500" dirty="0">
              <a:latin typeface="나눔스퀘어라운드 ExtraBold" panose="020B0600000101010101" pitchFamily="50" charset="-127"/>
              <a:ea typeface="나눔스퀘어라운드 ExtraBold" panose="020B0600000101010101" pitchFamily="50" charset="-127"/>
            </a:endParaRPr>
          </a:p>
        </p:txBody>
      </p:sp>
      <p:sp>
        <p:nvSpPr>
          <p:cNvPr id="7" name="Text 5"/>
          <p:cNvSpPr/>
          <p:nvPr/>
        </p:nvSpPr>
        <p:spPr>
          <a:xfrm>
            <a:off x="11430000" y="109728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400" dirty="0">
                <a:solidFill>
                  <a:srgbClr val="7A9E8A"/>
                </a:solidFill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08</a:t>
            </a:r>
            <a:endParaRPr lang="en-US" sz="1400" dirty="0">
              <a:latin typeface="나눔스퀘어라운드 ExtraBold" panose="020B0600000101010101" pitchFamily="50" charset="-127"/>
              <a:ea typeface="나눔스퀘어라운드 ExtraBold" panose="020B0600000101010101" pitchFamily="50" charset="-127"/>
            </a:endParaRPr>
          </a:p>
        </p:txBody>
      </p:sp>
      <p:sp>
        <p:nvSpPr>
          <p:cNvPr id="8" name="Shape 6"/>
          <p:cNvSpPr/>
          <p:nvPr/>
        </p:nvSpPr>
        <p:spPr>
          <a:xfrm>
            <a:off x="365760" y="1280160"/>
            <a:ext cx="11457432" cy="1417320"/>
          </a:xfrm>
          <a:prstGeom prst="rect">
            <a:avLst/>
          </a:prstGeom>
          <a:solidFill>
            <a:srgbClr val="FFF8EE"/>
          </a:solidFill>
          <a:ln w="25400">
            <a:solidFill>
              <a:srgbClr val="C0782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65760" y="1280160"/>
            <a:ext cx="54864" cy="1417320"/>
          </a:xfrm>
          <a:prstGeom prst="rect">
            <a:avLst/>
          </a:prstGeom>
          <a:solidFill>
            <a:srgbClr val="C07820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166420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👑</a:t>
            </a:r>
            <a:endParaRPr lang="en-US" sz="2600" dirty="0">
              <a:latin typeface="나눔스퀘어라운드 ExtraBold" panose="020B0600000101010101" pitchFamily="50" charset="-127"/>
              <a:ea typeface="나눔스퀘어라운드 ExtraBold" panose="020B0600000101010101" pitchFamily="50" charset="-127"/>
            </a:endParaRPr>
          </a:p>
        </p:txBody>
      </p:sp>
      <p:sp>
        <p:nvSpPr>
          <p:cNvPr id="11" name="Text 9"/>
          <p:cNvSpPr/>
          <p:nvPr/>
        </p:nvSpPr>
        <p:spPr>
          <a:xfrm>
            <a:off x="1143000" y="1444752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C07820"/>
                </a:solidFill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수퍼바이저</a:t>
            </a:r>
            <a:endParaRPr lang="en-US" sz="1800" dirty="0">
              <a:latin typeface="나눔스퀘어라운드 ExtraBold" panose="020B0600000101010101" pitchFamily="50" charset="-127"/>
              <a:ea typeface="나눔스퀘어라운드 ExtraBold" panose="020B0600000101010101" pitchFamily="50" charset="-127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1143000" y="187452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C6B5E"/>
                </a:solidFill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1개 계정</a:t>
            </a:r>
            <a:endParaRPr lang="en-US" sz="1300" dirty="0">
              <a:latin typeface="나눔스퀘어라운드 ExtraBold" panose="020B0600000101010101" pitchFamily="50" charset="-127"/>
              <a:ea typeface="나눔스퀘어라운드 ExtraBold" panose="020B0600000101010101" pitchFamily="50" charset="-127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3108960" y="1463040"/>
            <a:ext cx="0" cy="1005840"/>
          </a:xfrm>
          <a:prstGeom prst="line">
            <a:avLst/>
          </a:prstGeom>
          <a:noFill/>
          <a:ln w="12700">
            <a:solidFill>
              <a:srgbClr val="DDD8C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91840" y="1444752"/>
            <a:ext cx="39319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C6B5E"/>
                </a:solidFill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•  관리자 계정 생성·삭제·정지</a:t>
            </a:r>
            <a:endParaRPr lang="en-US" sz="1300" dirty="0">
              <a:latin typeface="나눔스퀘어라운드 ExtraBold" panose="020B0600000101010101" pitchFamily="50" charset="-127"/>
              <a:ea typeface="나눔스퀘어라운드 ExtraBold" panose="020B0600000101010101" pitchFamily="50" charset="-127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7406640" y="1444752"/>
            <a:ext cx="39319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C6B5E"/>
                </a:solidFill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•  구독 만료일 수동 연장 (결제 없음)</a:t>
            </a:r>
            <a:endParaRPr lang="en-US" sz="1300" dirty="0">
              <a:latin typeface="나눔스퀘어라운드 ExtraBold" panose="020B0600000101010101" pitchFamily="50" charset="-127"/>
              <a:ea typeface="나눔스퀘어라운드 ExtraBold" panose="020B0600000101010101" pitchFamily="50" charset="-127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3291840" y="1947672"/>
            <a:ext cx="39319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C6B5E"/>
                </a:solidFill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•  전체 서비스 통계 대시보드</a:t>
            </a:r>
            <a:endParaRPr lang="en-US" sz="1300" dirty="0">
              <a:latin typeface="나눔스퀘어라운드 ExtraBold" panose="020B0600000101010101" pitchFamily="50" charset="-127"/>
              <a:ea typeface="나눔스퀘어라운드 ExtraBold" panose="020B0600000101010101" pitchFamily="50" charset="-127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7406640" y="1947672"/>
            <a:ext cx="39319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C6B5E"/>
                </a:solidFill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•  만료 D-30/D-7 자동 알림</a:t>
            </a:r>
            <a:endParaRPr lang="en-US" sz="1300" dirty="0">
              <a:latin typeface="나눔스퀘어라운드 ExtraBold" panose="020B0600000101010101" pitchFamily="50" charset="-127"/>
              <a:ea typeface="나눔스퀘어라운드 ExtraBold" panose="020B0600000101010101" pitchFamily="50" charset="-127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5852160" y="2724912"/>
            <a:ext cx="48463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DDD8CC"/>
                </a:solidFill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↓</a:t>
            </a:r>
            <a:endParaRPr lang="en-US" sz="1500" dirty="0">
              <a:latin typeface="나눔스퀘어라운드 ExtraBold" panose="020B0600000101010101" pitchFamily="50" charset="-127"/>
              <a:ea typeface="나눔스퀘어라운드 ExtraBold" panose="020B0600000101010101" pitchFamily="50" charset="-127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365760" y="2862072"/>
            <a:ext cx="11457432" cy="1417320"/>
          </a:xfrm>
          <a:prstGeom prst="rect">
            <a:avLst/>
          </a:prstGeom>
          <a:solidFill>
            <a:srgbClr val="F2F0FA"/>
          </a:solidFill>
          <a:ln w="25400">
            <a:solidFill>
              <a:srgbClr val="5B6FAD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65760" y="2862072"/>
            <a:ext cx="54864" cy="1417320"/>
          </a:xfrm>
          <a:prstGeom prst="rect">
            <a:avLst/>
          </a:prstGeom>
          <a:solidFill>
            <a:srgbClr val="5B6FAD"/>
          </a:solidFill>
          <a:ln/>
        </p:spPr>
      </p:sp>
      <p:sp>
        <p:nvSpPr>
          <p:cNvPr id="21" name="Text 19"/>
          <p:cNvSpPr/>
          <p:nvPr/>
        </p:nvSpPr>
        <p:spPr>
          <a:xfrm>
            <a:off x="548640" y="32461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🏫</a:t>
            </a:r>
            <a:endParaRPr lang="en-US" sz="2600" dirty="0">
              <a:latin typeface="나눔스퀘어라운드 ExtraBold" panose="020B0600000101010101" pitchFamily="50" charset="-127"/>
              <a:ea typeface="나눔스퀘어라운드 ExtraBold" panose="020B0600000101010101" pitchFamily="50" charset="-127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1143000" y="3026664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5B6FAD"/>
                </a:solidFill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관리자 (기관)</a:t>
            </a:r>
            <a:endParaRPr lang="en-US" sz="1800" dirty="0">
              <a:latin typeface="나눔스퀘어라운드 ExtraBold" panose="020B0600000101010101" pitchFamily="50" charset="-127"/>
              <a:ea typeface="나눔스퀘어라운드 ExtraBold" panose="020B0600000101010101" pitchFamily="50" charset="-127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1143000" y="3456432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C6B5E"/>
                </a:solidFill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N개 계정</a:t>
            </a:r>
            <a:endParaRPr lang="en-US" sz="1300" dirty="0">
              <a:latin typeface="나눔스퀘어라운드 ExtraBold" panose="020B0600000101010101" pitchFamily="50" charset="-127"/>
              <a:ea typeface="나눔스퀘어라운드 ExtraBold" panose="020B0600000101010101" pitchFamily="50" charset="-127"/>
            </a:endParaRPr>
          </a:p>
        </p:txBody>
      </p:sp>
      <p:sp>
        <p:nvSpPr>
          <p:cNvPr id="24" name="Shape 22"/>
          <p:cNvSpPr/>
          <p:nvPr/>
        </p:nvSpPr>
        <p:spPr>
          <a:xfrm>
            <a:off x="3108960" y="3044952"/>
            <a:ext cx="0" cy="1005840"/>
          </a:xfrm>
          <a:prstGeom prst="line">
            <a:avLst/>
          </a:prstGeom>
          <a:noFill/>
          <a:ln w="12700">
            <a:solidFill>
              <a:srgbClr val="DDD8C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291840" y="3026664"/>
            <a:ext cx="39319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C6B5E"/>
                </a:solidFill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•  산하 학생 계정 일괄 생성·관리</a:t>
            </a:r>
            <a:endParaRPr lang="en-US" sz="1300" dirty="0">
              <a:latin typeface="나눔스퀘어라운드 ExtraBold" panose="020B0600000101010101" pitchFamily="50" charset="-127"/>
              <a:ea typeface="나눔스퀘어라운드 ExtraBold" panose="020B0600000101010101" pitchFamily="50" charset="-127"/>
            </a:endParaRPr>
          </a:p>
        </p:txBody>
      </p:sp>
      <p:sp>
        <p:nvSpPr>
          <p:cNvPr id="26" name="Text 24"/>
          <p:cNvSpPr/>
          <p:nvPr/>
        </p:nvSpPr>
        <p:spPr>
          <a:xfrm>
            <a:off x="7406640" y="3026664"/>
            <a:ext cx="39319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C6B5E"/>
                </a:solidFill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•  전체 학생 마음일기·자가진단·이미지 열람</a:t>
            </a:r>
            <a:endParaRPr lang="en-US" sz="1300" dirty="0">
              <a:latin typeface="나눔스퀘어라운드 ExtraBold" panose="020B0600000101010101" pitchFamily="50" charset="-127"/>
              <a:ea typeface="나눔스퀘어라운드 ExtraBold" panose="020B0600000101010101" pitchFamily="50" charset="-127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3291840" y="3529584"/>
            <a:ext cx="39319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C6B5E"/>
                </a:solidFill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•  위기 신호 즉시 알림 수신</a:t>
            </a:r>
            <a:endParaRPr lang="en-US" sz="1300" dirty="0">
              <a:latin typeface="나눔스퀘어라운드 ExtraBold" panose="020B0600000101010101" pitchFamily="50" charset="-127"/>
              <a:ea typeface="나눔스퀘어라운드 ExtraBold" panose="020B0600000101010101" pitchFamily="50" charset="-127"/>
            </a:endParaRPr>
          </a:p>
        </p:txBody>
      </p:sp>
      <p:sp>
        <p:nvSpPr>
          <p:cNvPr id="28" name="Text 26"/>
          <p:cNvSpPr/>
          <p:nvPr/>
        </p:nvSpPr>
        <p:spPr>
          <a:xfrm>
            <a:off x="7406640" y="3529584"/>
            <a:ext cx="39319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C6B5E"/>
                </a:solidFill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•  7일 미접속 학생 알림 + 개별 메모</a:t>
            </a:r>
            <a:endParaRPr lang="en-US" sz="1300" dirty="0">
              <a:latin typeface="나눔스퀘어라운드 ExtraBold" panose="020B0600000101010101" pitchFamily="50" charset="-127"/>
              <a:ea typeface="나눔스퀘어라운드 ExtraBold" panose="020B0600000101010101" pitchFamily="50" charset="-127"/>
            </a:endParaRPr>
          </a:p>
        </p:txBody>
      </p:sp>
      <p:sp>
        <p:nvSpPr>
          <p:cNvPr id="29" name="Text 27"/>
          <p:cNvSpPr/>
          <p:nvPr/>
        </p:nvSpPr>
        <p:spPr>
          <a:xfrm>
            <a:off x="5852160" y="4306824"/>
            <a:ext cx="48463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DDD8CC"/>
                </a:solidFill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↓</a:t>
            </a:r>
            <a:endParaRPr lang="en-US" sz="1500" dirty="0">
              <a:latin typeface="나눔스퀘어라운드 ExtraBold" panose="020B0600000101010101" pitchFamily="50" charset="-127"/>
              <a:ea typeface="나눔스퀘어라운드 ExtraBold" panose="020B0600000101010101" pitchFamily="50" charset="-127"/>
            </a:endParaRPr>
          </a:p>
        </p:txBody>
      </p:sp>
      <p:sp>
        <p:nvSpPr>
          <p:cNvPr id="30" name="Shape 28"/>
          <p:cNvSpPr/>
          <p:nvPr/>
        </p:nvSpPr>
        <p:spPr>
          <a:xfrm>
            <a:off x="365760" y="4443984"/>
            <a:ext cx="11457432" cy="1417320"/>
          </a:xfrm>
          <a:prstGeom prst="rect">
            <a:avLst/>
          </a:prstGeom>
          <a:solidFill>
            <a:srgbClr val="E8F5EE"/>
          </a:solidFill>
          <a:ln w="25400">
            <a:solidFill>
              <a:srgbClr val="4A9E75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65760" y="4443984"/>
            <a:ext cx="54864" cy="1417320"/>
          </a:xfrm>
          <a:prstGeom prst="rect">
            <a:avLst/>
          </a:prstGeom>
          <a:solidFill>
            <a:srgbClr val="4A9E75"/>
          </a:solidFill>
          <a:ln/>
        </p:spPr>
      </p:sp>
      <p:sp>
        <p:nvSpPr>
          <p:cNvPr id="32" name="Text 30"/>
          <p:cNvSpPr/>
          <p:nvPr/>
        </p:nvSpPr>
        <p:spPr>
          <a:xfrm>
            <a:off x="548640" y="482803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🧑‍🎓</a:t>
            </a:r>
            <a:endParaRPr lang="en-US" sz="2600" dirty="0">
              <a:latin typeface="나눔스퀘어라운드 ExtraBold" panose="020B0600000101010101" pitchFamily="50" charset="-127"/>
              <a:ea typeface="나눔스퀘어라운드 ExtraBold" panose="020B0600000101010101" pitchFamily="50" charset="-127"/>
            </a:endParaRPr>
          </a:p>
        </p:txBody>
      </p:sp>
      <p:sp>
        <p:nvSpPr>
          <p:cNvPr id="33" name="Text 31"/>
          <p:cNvSpPr/>
          <p:nvPr/>
        </p:nvSpPr>
        <p:spPr>
          <a:xfrm>
            <a:off x="1143000" y="4608576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4A9E75"/>
                </a:solidFill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학생</a:t>
            </a:r>
            <a:endParaRPr lang="en-US" sz="1800" dirty="0">
              <a:latin typeface="나눔스퀘어라운드 ExtraBold" panose="020B0600000101010101" pitchFamily="50" charset="-127"/>
              <a:ea typeface="나눔스퀘어라운드 ExtraBold" panose="020B0600000101010101" pitchFamily="50" charset="-127"/>
            </a:endParaRPr>
          </a:p>
        </p:txBody>
      </p:sp>
      <p:sp>
        <p:nvSpPr>
          <p:cNvPr id="34" name="Text 32"/>
          <p:cNvSpPr/>
          <p:nvPr/>
        </p:nvSpPr>
        <p:spPr>
          <a:xfrm>
            <a:off x="1143000" y="5038344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C6B5E"/>
                </a:solidFill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N개 계정</a:t>
            </a:r>
            <a:endParaRPr lang="en-US" sz="1300" dirty="0">
              <a:latin typeface="나눔스퀘어라운드 ExtraBold" panose="020B0600000101010101" pitchFamily="50" charset="-127"/>
              <a:ea typeface="나눔스퀘어라운드 ExtraBold" panose="020B0600000101010101" pitchFamily="50" charset="-127"/>
            </a:endParaRPr>
          </a:p>
        </p:txBody>
      </p:sp>
      <p:sp>
        <p:nvSpPr>
          <p:cNvPr id="35" name="Shape 33"/>
          <p:cNvSpPr/>
          <p:nvPr/>
        </p:nvSpPr>
        <p:spPr>
          <a:xfrm>
            <a:off x="3108960" y="4626864"/>
            <a:ext cx="0" cy="1005840"/>
          </a:xfrm>
          <a:prstGeom prst="line">
            <a:avLst/>
          </a:prstGeom>
          <a:noFill/>
          <a:ln w="12700">
            <a:solidFill>
              <a:srgbClr val="DDD8CC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291840" y="4608576"/>
            <a:ext cx="39319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C6B5E"/>
                </a:solidFill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•  본인 데이터만 접근 (타 학생 차단)</a:t>
            </a:r>
            <a:endParaRPr lang="en-US" sz="1300" dirty="0">
              <a:latin typeface="나눔스퀘어라운드 ExtraBold" panose="020B0600000101010101" pitchFamily="50" charset="-127"/>
              <a:ea typeface="나눔스퀘어라운드 ExtraBold" panose="020B0600000101010101" pitchFamily="50" charset="-127"/>
            </a:endParaRPr>
          </a:p>
        </p:txBody>
      </p:sp>
      <p:sp>
        <p:nvSpPr>
          <p:cNvPr id="37" name="Text 35"/>
          <p:cNvSpPr/>
          <p:nvPr/>
        </p:nvSpPr>
        <p:spPr>
          <a:xfrm>
            <a:off x="7406640" y="4608576"/>
            <a:ext cx="39319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C6B5E"/>
                </a:solidFill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•  관리자 부여 ID/PW로 최초 로그인</a:t>
            </a:r>
            <a:endParaRPr lang="en-US" sz="1300" dirty="0">
              <a:latin typeface="나눔스퀘어라운드 ExtraBold" panose="020B0600000101010101" pitchFamily="50" charset="-127"/>
              <a:ea typeface="나눔스퀘어라운드 ExtraBold" panose="020B0600000101010101" pitchFamily="50" charset="-127"/>
            </a:endParaRPr>
          </a:p>
        </p:txBody>
      </p:sp>
      <p:sp>
        <p:nvSpPr>
          <p:cNvPr id="38" name="Text 36"/>
          <p:cNvSpPr/>
          <p:nvPr/>
        </p:nvSpPr>
        <p:spPr>
          <a:xfrm>
            <a:off x="3291840" y="5111496"/>
            <a:ext cx="39319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C6B5E"/>
                </a:solidFill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•  구독 기간: 관리자 계정에 종속</a:t>
            </a:r>
            <a:endParaRPr lang="en-US" sz="1300" dirty="0">
              <a:latin typeface="나눔스퀘어라운드 ExtraBold" panose="020B0600000101010101" pitchFamily="50" charset="-127"/>
              <a:ea typeface="나눔스퀘어라운드 ExtraBold" panose="020B0600000101010101" pitchFamily="50" charset="-127"/>
            </a:endParaRPr>
          </a:p>
        </p:txBody>
      </p:sp>
      <p:sp>
        <p:nvSpPr>
          <p:cNvPr id="39" name="Text 37"/>
          <p:cNvSpPr/>
          <p:nvPr/>
        </p:nvSpPr>
        <p:spPr>
          <a:xfrm>
            <a:off x="7406640" y="5111496"/>
            <a:ext cx="39319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C6B5E"/>
                </a:solidFill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•  Supabase RLS로 DB 레벨 격리</a:t>
            </a:r>
            <a:endParaRPr lang="en-US" sz="1300" dirty="0">
              <a:latin typeface="나눔스퀘어라운드 ExtraBold" panose="020B0600000101010101" pitchFamily="50" charset="-127"/>
              <a:ea typeface="나눔스퀘어라운드 ExtraBold" panose="020B0600000101010101" pitchFamily="50" charset="-127"/>
            </a:endParaRPr>
          </a:p>
        </p:txBody>
      </p:sp>
      <p:sp>
        <p:nvSpPr>
          <p:cNvPr id="40" name="Shape 38"/>
          <p:cNvSpPr/>
          <p:nvPr/>
        </p:nvSpPr>
        <p:spPr>
          <a:xfrm>
            <a:off x="0" y="6309360"/>
            <a:ext cx="12188952" cy="548640"/>
          </a:xfrm>
          <a:prstGeom prst="rect">
            <a:avLst/>
          </a:prstGeom>
          <a:solidFill>
            <a:srgbClr val="2C3E35"/>
          </a:solidFill>
          <a:ln/>
        </p:spPr>
      </p:sp>
      <p:sp>
        <p:nvSpPr>
          <p:cNvPr id="41" name="Text 39"/>
          <p:cNvSpPr/>
          <p:nvPr/>
        </p:nvSpPr>
        <p:spPr>
          <a:xfrm>
            <a:off x="365760" y="6336792"/>
            <a:ext cx="114574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EFB"/>
                </a:solidFill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▶  Supabase RLS로 DB 레벨 격리 — 학생은 타 학생 데이터에 절대 접근 불가</a:t>
            </a:r>
            <a:endParaRPr lang="en-US" sz="1500" dirty="0">
              <a:latin typeface="나눔스퀘어라운드 ExtraBold" panose="020B0600000101010101" pitchFamily="50" charset="-127"/>
              <a:ea typeface="나눔스퀘어라운드 ExtraBold" panose="020B0600000101010101" pitchFamily="50" charset="-127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EF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2C3E35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4A9E75"/>
          </a:solidFill>
          <a:ln/>
        </p:spPr>
      </p:sp>
      <p:sp>
        <p:nvSpPr>
          <p:cNvPr id="5" name="Text 3"/>
          <p:cNvSpPr/>
          <p:nvPr/>
        </p:nvSpPr>
        <p:spPr>
          <a:xfrm>
            <a:off x="365760" y="109728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EFB"/>
                </a:solidFill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  <a:cs typeface="Pretendard" pitchFamily="34" charset="-120"/>
              </a:rPr>
              <a:t>개발 로드맵</a:t>
            </a:r>
            <a:endParaRPr lang="en-US" sz="2800" dirty="0">
              <a:latin typeface="나눔스퀘어라운드 ExtraBold" panose="020B0600000101010101" pitchFamily="50" charset="-127"/>
              <a:ea typeface="나눔스퀘어라운드 ExtraBold" panose="020B0600000101010101" pitchFamily="50" charset="-127"/>
            </a:endParaRPr>
          </a:p>
        </p:txBody>
      </p:sp>
      <p:sp>
        <p:nvSpPr>
          <p:cNvPr id="6" name="Text 4"/>
          <p:cNvSpPr/>
          <p:nvPr/>
        </p:nvSpPr>
        <p:spPr>
          <a:xfrm>
            <a:off x="365760" y="676656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A8C4B2"/>
                </a:solidFill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Phase 1 MVP → Phase 2 EFT → Phase 3 고도화 → Phase 4 모바일</a:t>
            </a:r>
            <a:endParaRPr lang="en-US" sz="1500" dirty="0">
              <a:latin typeface="나눔스퀘어라운드 ExtraBold" panose="020B0600000101010101" pitchFamily="50" charset="-127"/>
              <a:ea typeface="나눔스퀘어라운드 ExtraBold" panose="020B0600000101010101" pitchFamily="50" charset="-127"/>
            </a:endParaRPr>
          </a:p>
        </p:txBody>
      </p:sp>
      <p:sp>
        <p:nvSpPr>
          <p:cNvPr id="7" name="Text 5"/>
          <p:cNvSpPr/>
          <p:nvPr/>
        </p:nvSpPr>
        <p:spPr>
          <a:xfrm>
            <a:off x="11430000" y="109728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400" dirty="0">
                <a:solidFill>
                  <a:srgbClr val="7A9E8A"/>
                </a:solidFill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09</a:t>
            </a:r>
            <a:endParaRPr lang="en-US" sz="1400" dirty="0">
              <a:latin typeface="나눔스퀘어라운드 ExtraBold" panose="020B0600000101010101" pitchFamily="50" charset="-127"/>
              <a:ea typeface="나눔스퀘어라운드 ExtraBold" panose="020B0600000101010101" pitchFamily="50" charset="-127"/>
            </a:endParaRPr>
          </a:p>
        </p:txBody>
      </p:sp>
      <p:sp>
        <p:nvSpPr>
          <p:cNvPr id="8" name="Shape 6"/>
          <p:cNvSpPr/>
          <p:nvPr/>
        </p:nvSpPr>
        <p:spPr>
          <a:xfrm>
            <a:off x="365760" y="1618488"/>
            <a:ext cx="548640" cy="548640"/>
          </a:xfrm>
          <a:prstGeom prst="ellipse">
            <a:avLst/>
          </a:prstGeom>
          <a:solidFill>
            <a:srgbClr val="4A9E75"/>
          </a:solidFill>
          <a:ln/>
        </p:spPr>
      </p:sp>
      <p:sp>
        <p:nvSpPr>
          <p:cNvPr id="9" name="Text 7"/>
          <p:cNvSpPr/>
          <p:nvPr/>
        </p:nvSpPr>
        <p:spPr>
          <a:xfrm>
            <a:off x="365760" y="1691640"/>
            <a:ext cx="548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EFB"/>
                </a:solidFill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1</a:t>
            </a:r>
            <a:endParaRPr lang="en-US" sz="1800" dirty="0">
              <a:latin typeface="나눔스퀘어라운드 ExtraBold" panose="020B0600000101010101" pitchFamily="50" charset="-127"/>
              <a:ea typeface="나눔스퀘어라운드 ExtraBold" panose="020B0600000101010101" pitchFamily="50" charset="-127"/>
            </a:endParaRPr>
          </a:p>
        </p:txBody>
      </p:sp>
      <p:sp>
        <p:nvSpPr>
          <p:cNvPr id="10" name="Text 8"/>
          <p:cNvSpPr/>
          <p:nvPr/>
        </p:nvSpPr>
        <p:spPr>
          <a:xfrm>
            <a:off x="1051560" y="15544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C3A2E"/>
                </a:solidFill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Phase 1 — MVP</a:t>
            </a:r>
            <a:endParaRPr lang="en-US" sz="1500" dirty="0">
              <a:latin typeface="나눔스퀘어라운드 ExtraBold" panose="020B0600000101010101" pitchFamily="50" charset="-127"/>
              <a:ea typeface="나눔스퀘어라운드 ExtraBold" panose="020B0600000101010101" pitchFamily="50" charset="-127"/>
            </a:endParaRPr>
          </a:p>
        </p:txBody>
      </p:sp>
      <p:sp>
        <p:nvSpPr>
          <p:cNvPr id="11" name="Text 9"/>
          <p:cNvSpPr/>
          <p:nvPr/>
        </p:nvSpPr>
        <p:spPr>
          <a:xfrm>
            <a:off x="1051560" y="1938528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C6B5E"/>
                </a:solidFill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핵심 인프라 + 기본 기능</a:t>
            </a:r>
            <a:endParaRPr lang="en-US" sz="1200" dirty="0">
              <a:latin typeface="나눔스퀘어라운드 ExtraBold" panose="020B0600000101010101" pitchFamily="50" charset="-127"/>
              <a:ea typeface="나눔스퀘어라운드 ExtraBold" panose="020B0600000101010101" pitchFamily="50" charset="-127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3127248" y="1481328"/>
            <a:ext cx="1188720" cy="329184"/>
          </a:xfrm>
          <a:prstGeom prst="rect">
            <a:avLst/>
          </a:prstGeom>
          <a:solidFill>
            <a:srgbClr val="E8F5EE"/>
          </a:solidFill>
          <a:ln w="12700">
            <a:solidFill>
              <a:srgbClr val="E8F5E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127248" y="1508760"/>
            <a:ext cx="1188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4A9E75"/>
                </a:solidFill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우선순위 ★★★</a:t>
            </a:r>
            <a:endParaRPr lang="en-US" sz="1100" dirty="0">
              <a:latin typeface="나눔스퀘어라운드 ExtraBold" panose="020B0600000101010101" pitchFamily="50" charset="-127"/>
              <a:ea typeface="나눔스퀘어라운드 ExtraBold" panose="020B0600000101010101" pitchFamily="50" charset="-127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2964873" y="1865376"/>
            <a:ext cx="1927167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5C6B5E"/>
                </a:solidFill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• 계정 시스템 (3-tier)</a:t>
            </a:r>
            <a:endParaRPr lang="en-US" sz="1100" dirty="0">
              <a:latin typeface="나눔스퀘어라운드 ExtraBold" panose="020B0600000101010101" pitchFamily="50" charset="-127"/>
              <a:ea typeface="나눔스퀘어라운드 ExtraBold" panose="020B0600000101010101" pitchFamily="50" charset="-127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5C6B5E"/>
                </a:solidFill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• 마음일기 + 감정 분석</a:t>
            </a:r>
            <a:endParaRPr lang="en-US" sz="1100" dirty="0">
              <a:latin typeface="나눔스퀘어라운드 ExtraBold" panose="020B0600000101010101" pitchFamily="50" charset="-127"/>
              <a:ea typeface="나눔스퀘어라운드 ExtraBold" panose="020B0600000101010101" pitchFamily="50" charset="-127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5C6B5E"/>
                </a:solidFill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• 자가진단 중독 척도</a:t>
            </a:r>
            <a:endParaRPr lang="en-US" sz="1100" dirty="0">
              <a:latin typeface="나눔스퀘어라운드 ExtraBold" panose="020B0600000101010101" pitchFamily="50" charset="-127"/>
              <a:ea typeface="나눔스퀘어라운드 ExtraBold" panose="020B0600000101010101" pitchFamily="50" charset="-127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5C6B5E"/>
                </a:solidFill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• 관리자 대시보드 + 위기 알림</a:t>
            </a:r>
            <a:endParaRPr lang="en-US" sz="1100" dirty="0">
              <a:latin typeface="나눔스퀘어라운드 ExtraBold" panose="020B0600000101010101" pitchFamily="50" charset="-127"/>
              <a:ea typeface="나눔스퀘어라운드 ExtraBold" panose="020B0600000101010101" pitchFamily="50" charset="-127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4315968" y="1645920"/>
            <a:ext cx="1261872" cy="0"/>
          </a:xfrm>
          <a:prstGeom prst="line">
            <a:avLst/>
          </a:prstGeom>
          <a:noFill/>
          <a:ln w="25400">
            <a:solidFill>
              <a:srgbClr val="4A9E7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577840" y="1435608"/>
            <a:ext cx="4114800" cy="1234440"/>
          </a:xfrm>
          <a:prstGeom prst="rect">
            <a:avLst/>
          </a:prstGeom>
          <a:solidFill>
            <a:srgbClr val="E8F5EE"/>
          </a:solidFill>
          <a:ln w="12700">
            <a:solidFill>
              <a:srgbClr val="DDD8C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715000" y="1499616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C3A2E"/>
                </a:solidFill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결과물</a:t>
            </a:r>
            <a:endParaRPr lang="en-US" sz="1400" dirty="0">
              <a:latin typeface="나눔스퀘어라운드 ExtraBold" panose="020B0600000101010101" pitchFamily="50" charset="-127"/>
              <a:ea typeface="나눔스퀘어라운드 ExtraBold" panose="020B0600000101010101" pitchFamily="50" charset="-127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5715000" y="1847088"/>
            <a:ext cx="3840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C6B5E"/>
                </a:solidFill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웹앱 기본 골격 완성. 실제 학교 현장 투입 가능한 MVP</a:t>
            </a:r>
            <a:endParaRPr lang="en-US" sz="1200" dirty="0">
              <a:latin typeface="나눔스퀘어라운드 ExtraBold" panose="020B0600000101010101" pitchFamily="50" charset="-127"/>
              <a:ea typeface="나눔스퀘어라운드 ExtraBold" panose="020B0600000101010101" pitchFamily="50" charset="-127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9802368" y="186994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4A9E75"/>
                </a:solidFill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=</a:t>
            </a:r>
            <a:endParaRPr lang="en-US" sz="2200" dirty="0">
              <a:latin typeface="나눔스퀘어라운드 ExtraBold" panose="020B0600000101010101" pitchFamily="50" charset="-127"/>
              <a:ea typeface="나눔스퀘어라운드 ExtraBold" panose="020B0600000101010101" pitchFamily="50" charset="-127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10259568" y="1435608"/>
            <a:ext cx="1554480" cy="1234440"/>
          </a:xfrm>
          <a:prstGeom prst="rect">
            <a:avLst/>
          </a:prstGeom>
          <a:solidFill>
            <a:srgbClr val="C4E0CF"/>
          </a:solidFill>
          <a:ln w="12700">
            <a:solidFill>
              <a:srgbClr val="DDD8C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0305288" y="1709928"/>
            <a:ext cx="14173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C3A2E"/>
                </a:solidFill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현장 투입</a:t>
            </a:r>
            <a:endParaRPr lang="en-US" sz="1300" dirty="0">
              <a:latin typeface="나눔스퀘어라운드 ExtraBold" panose="020B0600000101010101" pitchFamily="50" charset="-127"/>
              <a:ea typeface="나눔스퀘어라운드 ExtraBold" panose="020B0600000101010101" pitchFamily="50" charset="-127"/>
            </a:endParaRPr>
          </a:p>
          <a:p>
            <a:pPr marL="0" indent="0" algn="ctr">
              <a:buNone/>
            </a:pPr>
            <a:r>
              <a:rPr lang="en-US" sz="1300" b="1" dirty="0">
                <a:solidFill>
                  <a:srgbClr val="2C3A2E"/>
                </a:solidFill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가능한 MVP</a:t>
            </a:r>
            <a:endParaRPr lang="en-US" sz="1300" dirty="0">
              <a:latin typeface="나눔스퀘어라운드 ExtraBold" panose="020B0600000101010101" pitchFamily="50" charset="-127"/>
              <a:ea typeface="나눔스퀘어라운드 ExtraBold" panose="020B0600000101010101" pitchFamily="50" charset="-127"/>
            </a:endParaRPr>
          </a:p>
        </p:txBody>
      </p:sp>
      <p:sp>
        <p:nvSpPr>
          <p:cNvPr id="22" name="Shape 20"/>
          <p:cNvSpPr/>
          <p:nvPr/>
        </p:nvSpPr>
        <p:spPr>
          <a:xfrm>
            <a:off x="365760" y="3172968"/>
            <a:ext cx="548640" cy="548640"/>
          </a:xfrm>
          <a:prstGeom prst="ellipse">
            <a:avLst/>
          </a:prstGeom>
          <a:solidFill>
            <a:srgbClr val="5B6FAD"/>
          </a:solidFill>
          <a:ln/>
        </p:spPr>
      </p:sp>
      <p:sp>
        <p:nvSpPr>
          <p:cNvPr id="23" name="Text 21"/>
          <p:cNvSpPr/>
          <p:nvPr/>
        </p:nvSpPr>
        <p:spPr>
          <a:xfrm>
            <a:off x="365760" y="3246120"/>
            <a:ext cx="548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EFB"/>
                </a:solidFill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2</a:t>
            </a:r>
            <a:endParaRPr lang="en-US" sz="1800" dirty="0">
              <a:latin typeface="나눔스퀘어라운드 ExtraBold" panose="020B0600000101010101" pitchFamily="50" charset="-127"/>
              <a:ea typeface="나눔스퀘어라운드 ExtraBold" panose="020B0600000101010101" pitchFamily="50" charset="-127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1051560" y="310896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C3A2E"/>
                </a:solidFill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Phase 2 — EFT 핵심</a:t>
            </a:r>
            <a:endParaRPr lang="en-US" sz="1500" dirty="0">
              <a:latin typeface="나눔스퀘어라운드 ExtraBold" panose="020B0600000101010101" pitchFamily="50" charset="-127"/>
              <a:ea typeface="나눔스퀘어라운드 ExtraBold" panose="020B0600000101010101" pitchFamily="50" charset="-127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1051560" y="3493008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C6B5E"/>
                </a:solidFill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미래의 나 AI 자화상</a:t>
            </a:r>
            <a:endParaRPr lang="en-US" sz="1200" dirty="0">
              <a:latin typeface="나눔스퀘어라운드 ExtraBold" panose="020B0600000101010101" pitchFamily="50" charset="-127"/>
              <a:ea typeface="나눔스퀘어라운드 ExtraBold" panose="020B0600000101010101" pitchFamily="50" charset="-127"/>
            </a:endParaRPr>
          </a:p>
        </p:txBody>
      </p:sp>
      <p:sp>
        <p:nvSpPr>
          <p:cNvPr id="26" name="Shape 24"/>
          <p:cNvSpPr/>
          <p:nvPr/>
        </p:nvSpPr>
        <p:spPr>
          <a:xfrm>
            <a:off x="3127248" y="3035808"/>
            <a:ext cx="1188720" cy="329184"/>
          </a:xfrm>
          <a:prstGeom prst="rect">
            <a:avLst/>
          </a:prstGeom>
          <a:solidFill>
            <a:srgbClr val="EEF0FA"/>
          </a:solidFill>
          <a:ln w="12700">
            <a:solidFill>
              <a:srgbClr val="EEF0F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127248" y="3063240"/>
            <a:ext cx="1188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5B6FAD"/>
                </a:solidFill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우선순위 ★★★</a:t>
            </a:r>
            <a:endParaRPr lang="en-US" sz="1100" dirty="0">
              <a:latin typeface="나눔스퀘어라운드 ExtraBold" panose="020B0600000101010101" pitchFamily="50" charset="-127"/>
              <a:ea typeface="나눔스퀘어라운드 ExtraBold" panose="020B0600000101010101" pitchFamily="50" charset="-127"/>
            </a:endParaRPr>
          </a:p>
        </p:txBody>
      </p:sp>
      <p:sp>
        <p:nvSpPr>
          <p:cNvPr id="28" name="Text 26"/>
          <p:cNvSpPr/>
          <p:nvPr/>
        </p:nvSpPr>
        <p:spPr>
          <a:xfrm>
            <a:off x="2964873" y="3419856"/>
            <a:ext cx="1927167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5C6B5E"/>
                </a:solidFill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• CIREF 4단계 대화 엔진</a:t>
            </a:r>
            <a:endParaRPr lang="en-US" sz="1100" dirty="0">
              <a:latin typeface="나눔스퀘어라운드 ExtraBold" panose="020B0600000101010101" pitchFamily="50" charset="-127"/>
              <a:ea typeface="나눔스퀘어라운드 ExtraBold" panose="020B0600000101010101" pitchFamily="50" charset="-127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5C6B5E"/>
                </a:solidFill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• AI 이미지 생성 연동</a:t>
            </a:r>
            <a:endParaRPr lang="en-US" sz="1100" dirty="0">
              <a:latin typeface="나눔스퀘어라운드 ExtraBold" panose="020B0600000101010101" pitchFamily="50" charset="-127"/>
              <a:ea typeface="나눔스퀘어라운드 ExtraBold" panose="020B0600000101010101" pitchFamily="50" charset="-127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5C6B5E"/>
                </a:solidFill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• 이미지 갤러리 변천사</a:t>
            </a:r>
            <a:endParaRPr lang="en-US" sz="1100" dirty="0">
              <a:latin typeface="나눔스퀘어라운드 ExtraBold" panose="020B0600000101010101" pitchFamily="50" charset="-127"/>
              <a:ea typeface="나눔스퀘어라운드 ExtraBold" panose="020B0600000101010101" pitchFamily="50" charset="-127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5C6B5E"/>
                </a:solidFill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• 재공고화 리플렉션 노트</a:t>
            </a:r>
            <a:endParaRPr lang="en-US" sz="1100" dirty="0">
              <a:latin typeface="나눔스퀘어라운드 ExtraBold" panose="020B0600000101010101" pitchFamily="50" charset="-127"/>
              <a:ea typeface="나눔스퀘어라운드 ExtraBold" panose="020B0600000101010101" pitchFamily="50" charset="-127"/>
            </a:endParaRPr>
          </a:p>
        </p:txBody>
      </p:sp>
      <p:sp>
        <p:nvSpPr>
          <p:cNvPr id="29" name="Shape 27"/>
          <p:cNvSpPr/>
          <p:nvPr/>
        </p:nvSpPr>
        <p:spPr>
          <a:xfrm>
            <a:off x="4315968" y="3200400"/>
            <a:ext cx="1261872" cy="0"/>
          </a:xfrm>
          <a:prstGeom prst="line">
            <a:avLst/>
          </a:prstGeom>
          <a:noFill/>
          <a:ln w="25400">
            <a:solidFill>
              <a:srgbClr val="5B6FAD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577840" y="2990088"/>
            <a:ext cx="4114800" cy="1234440"/>
          </a:xfrm>
          <a:prstGeom prst="rect">
            <a:avLst/>
          </a:prstGeom>
          <a:solidFill>
            <a:srgbClr val="EEF0FA"/>
          </a:solidFill>
          <a:ln w="12700">
            <a:solidFill>
              <a:srgbClr val="DDD8C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715000" y="3054096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C3A2E"/>
                </a:solidFill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결과물</a:t>
            </a:r>
            <a:endParaRPr lang="en-US" sz="1400" dirty="0">
              <a:latin typeface="나눔스퀘어라운드 ExtraBold" panose="020B0600000101010101" pitchFamily="50" charset="-127"/>
              <a:ea typeface="나눔스퀘어라운드 ExtraBold" panose="020B0600000101010101" pitchFamily="50" charset="-127"/>
            </a:endParaRPr>
          </a:p>
        </p:txBody>
      </p:sp>
      <p:sp>
        <p:nvSpPr>
          <p:cNvPr id="32" name="Text 30"/>
          <p:cNvSpPr/>
          <p:nvPr/>
        </p:nvSpPr>
        <p:spPr>
          <a:xfrm>
            <a:off x="5715000" y="3401568"/>
            <a:ext cx="3840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C6B5E"/>
                </a:solidFill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과학적 EFT 경험 구현. 청소년 행동 변화 핵심 동기 부여 완성</a:t>
            </a:r>
            <a:endParaRPr lang="en-US" sz="1200" dirty="0">
              <a:latin typeface="나눔스퀘어라운드 ExtraBold" panose="020B0600000101010101" pitchFamily="50" charset="-127"/>
              <a:ea typeface="나눔스퀘어라운드 ExtraBold" panose="020B0600000101010101" pitchFamily="50" charset="-127"/>
            </a:endParaRPr>
          </a:p>
        </p:txBody>
      </p:sp>
      <p:sp>
        <p:nvSpPr>
          <p:cNvPr id="33" name="Text 31"/>
          <p:cNvSpPr/>
          <p:nvPr/>
        </p:nvSpPr>
        <p:spPr>
          <a:xfrm>
            <a:off x="9802368" y="342442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5B6FAD"/>
                </a:solidFill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=</a:t>
            </a:r>
            <a:endParaRPr lang="en-US" sz="2200" dirty="0">
              <a:latin typeface="나눔스퀘어라운드 ExtraBold" panose="020B0600000101010101" pitchFamily="50" charset="-127"/>
              <a:ea typeface="나눔스퀘어라운드 ExtraBold" panose="020B0600000101010101" pitchFamily="50" charset="-127"/>
            </a:endParaRPr>
          </a:p>
        </p:txBody>
      </p:sp>
      <p:sp>
        <p:nvSpPr>
          <p:cNvPr id="34" name="Shape 32"/>
          <p:cNvSpPr/>
          <p:nvPr/>
        </p:nvSpPr>
        <p:spPr>
          <a:xfrm>
            <a:off x="10259568" y="2990088"/>
            <a:ext cx="1554480" cy="1234440"/>
          </a:xfrm>
          <a:prstGeom prst="rect">
            <a:avLst/>
          </a:prstGeom>
          <a:solidFill>
            <a:srgbClr val="D8D0F0"/>
          </a:solidFill>
          <a:ln w="12700">
            <a:solidFill>
              <a:srgbClr val="DDD8CC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0305288" y="3264408"/>
            <a:ext cx="14173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C3A2E"/>
                </a:solidFill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EFT 경험</a:t>
            </a:r>
            <a:endParaRPr lang="en-US" sz="1300" dirty="0">
              <a:latin typeface="나눔스퀘어라운드 ExtraBold" panose="020B0600000101010101" pitchFamily="50" charset="-127"/>
              <a:ea typeface="나눔스퀘어라운드 ExtraBold" panose="020B0600000101010101" pitchFamily="50" charset="-127"/>
            </a:endParaRPr>
          </a:p>
          <a:p>
            <a:pPr marL="0" indent="0" algn="ctr">
              <a:buNone/>
            </a:pPr>
            <a:r>
              <a:rPr lang="en-US" sz="1300" b="1" dirty="0">
                <a:solidFill>
                  <a:srgbClr val="2C3A2E"/>
                </a:solidFill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완성</a:t>
            </a:r>
            <a:endParaRPr lang="en-US" sz="1300" dirty="0">
              <a:latin typeface="나눔스퀘어라운드 ExtraBold" panose="020B0600000101010101" pitchFamily="50" charset="-127"/>
              <a:ea typeface="나눔스퀘어라운드 ExtraBold" panose="020B0600000101010101" pitchFamily="50" charset="-127"/>
            </a:endParaRPr>
          </a:p>
        </p:txBody>
      </p:sp>
      <p:sp>
        <p:nvSpPr>
          <p:cNvPr id="36" name="Shape 34"/>
          <p:cNvSpPr/>
          <p:nvPr/>
        </p:nvSpPr>
        <p:spPr>
          <a:xfrm>
            <a:off x="365760" y="4727448"/>
            <a:ext cx="548640" cy="548640"/>
          </a:xfrm>
          <a:prstGeom prst="ellipse">
            <a:avLst/>
          </a:prstGeom>
          <a:solidFill>
            <a:srgbClr val="C07820"/>
          </a:solidFill>
          <a:ln/>
        </p:spPr>
      </p:sp>
      <p:sp>
        <p:nvSpPr>
          <p:cNvPr id="37" name="Text 35"/>
          <p:cNvSpPr/>
          <p:nvPr/>
        </p:nvSpPr>
        <p:spPr>
          <a:xfrm>
            <a:off x="365760" y="4800600"/>
            <a:ext cx="548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EFB"/>
                </a:solidFill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3</a:t>
            </a:r>
            <a:endParaRPr lang="en-US" sz="1800" dirty="0">
              <a:latin typeface="나눔스퀘어라운드 ExtraBold" panose="020B0600000101010101" pitchFamily="50" charset="-127"/>
              <a:ea typeface="나눔스퀘어라운드 ExtraBold" panose="020B0600000101010101" pitchFamily="50" charset="-127"/>
            </a:endParaRPr>
          </a:p>
        </p:txBody>
      </p:sp>
      <p:sp>
        <p:nvSpPr>
          <p:cNvPr id="38" name="Text 36"/>
          <p:cNvSpPr/>
          <p:nvPr/>
        </p:nvSpPr>
        <p:spPr>
          <a:xfrm>
            <a:off x="1051560" y="466344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C3A2E"/>
                </a:solidFill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Phase 3 — 고도화</a:t>
            </a:r>
            <a:endParaRPr lang="en-US" sz="1500" dirty="0">
              <a:latin typeface="나눔스퀘어라운드 ExtraBold" panose="020B0600000101010101" pitchFamily="50" charset="-127"/>
              <a:ea typeface="나눔스퀘어라운드 ExtraBold" panose="020B0600000101010101" pitchFamily="50" charset="-127"/>
            </a:endParaRPr>
          </a:p>
        </p:txBody>
      </p:sp>
      <p:sp>
        <p:nvSpPr>
          <p:cNvPr id="39" name="Text 37"/>
          <p:cNvSpPr/>
          <p:nvPr/>
        </p:nvSpPr>
        <p:spPr>
          <a:xfrm>
            <a:off x="1051560" y="5047488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C6B5E"/>
                </a:solidFill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게임 + 분석 + 운영</a:t>
            </a:r>
            <a:endParaRPr lang="en-US" sz="1200" dirty="0">
              <a:latin typeface="나눔스퀘어라운드 ExtraBold" panose="020B0600000101010101" pitchFamily="50" charset="-127"/>
              <a:ea typeface="나눔스퀘어라운드 ExtraBold" panose="020B0600000101010101" pitchFamily="50" charset="-127"/>
            </a:endParaRPr>
          </a:p>
        </p:txBody>
      </p:sp>
      <p:sp>
        <p:nvSpPr>
          <p:cNvPr id="40" name="Shape 38"/>
          <p:cNvSpPr/>
          <p:nvPr/>
        </p:nvSpPr>
        <p:spPr>
          <a:xfrm>
            <a:off x="3127248" y="4590288"/>
            <a:ext cx="1188720" cy="329184"/>
          </a:xfrm>
          <a:prstGeom prst="rect">
            <a:avLst/>
          </a:prstGeom>
          <a:solidFill>
            <a:srgbClr val="FFF4E0"/>
          </a:solidFill>
          <a:ln w="12700">
            <a:solidFill>
              <a:srgbClr val="FFF4E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127248" y="4617720"/>
            <a:ext cx="1188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C07820"/>
                </a:solidFill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우선순위 ★★</a:t>
            </a:r>
            <a:endParaRPr lang="en-US" sz="1100" dirty="0">
              <a:latin typeface="나눔스퀘어라운드 ExtraBold" panose="020B0600000101010101" pitchFamily="50" charset="-127"/>
              <a:ea typeface="나눔스퀘어라운드 ExtraBold" panose="020B0600000101010101" pitchFamily="50" charset="-127"/>
            </a:endParaRPr>
          </a:p>
        </p:txBody>
      </p:sp>
      <p:sp>
        <p:nvSpPr>
          <p:cNvPr id="42" name="Text 40"/>
          <p:cNvSpPr/>
          <p:nvPr/>
        </p:nvSpPr>
        <p:spPr>
          <a:xfrm>
            <a:off x="2964873" y="4974336"/>
            <a:ext cx="2046039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5C6B5E"/>
                </a:solidFill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• 미로 </a:t>
            </a:r>
            <a:r>
              <a:rPr lang="en-US" sz="1100" dirty="0" err="1">
                <a:solidFill>
                  <a:srgbClr val="5C6B5E"/>
                </a:solidFill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풀기</a:t>
            </a:r>
            <a:r>
              <a:rPr lang="en-US" sz="1100" dirty="0">
                <a:solidFill>
                  <a:srgbClr val="5C6B5E"/>
                </a:solidFill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 </a:t>
            </a:r>
            <a:r>
              <a:rPr lang="en-US" sz="1100" dirty="0" err="1">
                <a:solidFill>
                  <a:srgbClr val="5C6B5E"/>
                </a:solidFill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게임</a:t>
            </a:r>
            <a:endParaRPr lang="en-US" sz="1100" dirty="0">
              <a:latin typeface="나눔스퀘어라운드 ExtraBold" panose="020B0600000101010101" pitchFamily="50" charset="-127"/>
              <a:ea typeface="나눔스퀘어라운드 ExtraBold" panose="020B0600000101010101" pitchFamily="50" charset="-127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5C6B5E"/>
                </a:solidFill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• 스마트폰 사용량 상관 그래프</a:t>
            </a:r>
            <a:endParaRPr lang="en-US" sz="1100" dirty="0">
              <a:latin typeface="나눔스퀘어라운드 ExtraBold" panose="020B0600000101010101" pitchFamily="50" charset="-127"/>
              <a:ea typeface="나눔스퀘어라운드 ExtraBold" panose="020B0600000101010101" pitchFamily="50" charset="-127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5C6B5E"/>
                </a:solidFill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• 수퍼바이저 구독 관리</a:t>
            </a:r>
            <a:endParaRPr lang="en-US" sz="1100" dirty="0">
              <a:latin typeface="나눔스퀘어라운드 ExtraBold" panose="020B0600000101010101" pitchFamily="50" charset="-127"/>
              <a:ea typeface="나눔스퀘어라운드 ExtraBold" panose="020B0600000101010101" pitchFamily="50" charset="-127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5C6B5E"/>
                </a:solidFill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• PDF 리포트 전체 구현</a:t>
            </a:r>
            <a:endParaRPr lang="en-US" sz="1100" dirty="0">
              <a:latin typeface="나눔스퀘어라운드 ExtraBold" panose="020B0600000101010101" pitchFamily="50" charset="-127"/>
              <a:ea typeface="나눔스퀘어라운드 ExtraBold" panose="020B0600000101010101" pitchFamily="50" charset="-127"/>
            </a:endParaRPr>
          </a:p>
        </p:txBody>
      </p:sp>
      <p:sp>
        <p:nvSpPr>
          <p:cNvPr id="43" name="Shape 41"/>
          <p:cNvSpPr/>
          <p:nvPr/>
        </p:nvSpPr>
        <p:spPr>
          <a:xfrm>
            <a:off x="4315968" y="4723753"/>
            <a:ext cx="1261872" cy="0"/>
          </a:xfrm>
          <a:prstGeom prst="line">
            <a:avLst/>
          </a:prstGeom>
          <a:noFill/>
          <a:ln w="25400">
            <a:solidFill>
              <a:srgbClr val="C07820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5577840" y="4544568"/>
            <a:ext cx="4114800" cy="1234440"/>
          </a:xfrm>
          <a:prstGeom prst="rect">
            <a:avLst/>
          </a:prstGeom>
          <a:solidFill>
            <a:srgbClr val="FFF4E0"/>
          </a:solidFill>
          <a:ln w="12700">
            <a:solidFill>
              <a:srgbClr val="DDD8CC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715000" y="4608576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C3A2E"/>
                </a:solidFill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결과물</a:t>
            </a:r>
            <a:endParaRPr lang="en-US" sz="1400" dirty="0">
              <a:latin typeface="나눔스퀘어라운드 ExtraBold" panose="020B0600000101010101" pitchFamily="50" charset="-127"/>
              <a:ea typeface="나눔스퀘어라운드 ExtraBold" panose="020B0600000101010101" pitchFamily="50" charset="-127"/>
            </a:endParaRPr>
          </a:p>
        </p:txBody>
      </p:sp>
      <p:sp>
        <p:nvSpPr>
          <p:cNvPr id="46" name="Text 44"/>
          <p:cNvSpPr/>
          <p:nvPr/>
        </p:nvSpPr>
        <p:spPr>
          <a:xfrm>
            <a:off x="5715000" y="4956048"/>
            <a:ext cx="3840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C6B5E"/>
                </a:solidFill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완성형 서비스. 구독 기반 B2B SaaS 운영 체계 완비</a:t>
            </a:r>
            <a:endParaRPr lang="en-US" sz="1200" dirty="0">
              <a:latin typeface="나눔스퀘어라운드 ExtraBold" panose="020B0600000101010101" pitchFamily="50" charset="-127"/>
              <a:ea typeface="나눔스퀘어라운드 ExtraBold" panose="020B0600000101010101" pitchFamily="50" charset="-127"/>
            </a:endParaRPr>
          </a:p>
        </p:txBody>
      </p:sp>
      <p:sp>
        <p:nvSpPr>
          <p:cNvPr id="47" name="Text 45"/>
          <p:cNvSpPr/>
          <p:nvPr/>
        </p:nvSpPr>
        <p:spPr>
          <a:xfrm>
            <a:off x="9802368" y="497890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C07820"/>
                </a:solidFill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=</a:t>
            </a:r>
            <a:endParaRPr lang="en-US" sz="2200" dirty="0">
              <a:latin typeface="나눔스퀘어라운드 ExtraBold" panose="020B0600000101010101" pitchFamily="50" charset="-127"/>
              <a:ea typeface="나눔스퀘어라운드 ExtraBold" panose="020B0600000101010101" pitchFamily="50" charset="-127"/>
            </a:endParaRPr>
          </a:p>
        </p:txBody>
      </p:sp>
      <p:sp>
        <p:nvSpPr>
          <p:cNvPr id="48" name="Shape 46"/>
          <p:cNvSpPr/>
          <p:nvPr/>
        </p:nvSpPr>
        <p:spPr>
          <a:xfrm>
            <a:off x="10259568" y="4544568"/>
            <a:ext cx="1554480" cy="1234440"/>
          </a:xfrm>
          <a:prstGeom prst="rect">
            <a:avLst/>
          </a:prstGeom>
          <a:solidFill>
            <a:srgbClr val="F0D8A0"/>
          </a:solidFill>
          <a:ln w="12700">
            <a:solidFill>
              <a:srgbClr val="DDD8CC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10305288" y="4818888"/>
            <a:ext cx="14173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C3A2E"/>
                </a:solidFill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완성형</a:t>
            </a:r>
            <a:endParaRPr lang="en-US" sz="1300" dirty="0">
              <a:latin typeface="나눔스퀘어라운드 ExtraBold" panose="020B0600000101010101" pitchFamily="50" charset="-127"/>
              <a:ea typeface="나눔스퀘어라운드 ExtraBold" panose="020B0600000101010101" pitchFamily="50" charset="-127"/>
            </a:endParaRPr>
          </a:p>
          <a:p>
            <a:pPr marL="0" indent="0" algn="ctr">
              <a:buNone/>
            </a:pPr>
            <a:r>
              <a:rPr lang="en-US" sz="1300" b="1" dirty="0">
                <a:solidFill>
                  <a:srgbClr val="2C3A2E"/>
                </a:solidFill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B2B SaaS</a:t>
            </a:r>
            <a:endParaRPr lang="en-US" sz="1300" dirty="0">
              <a:latin typeface="나눔스퀘어라운드 ExtraBold" panose="020B0600000101010101" pitchFamily="50" charset="-127"/>
              <a:ea typeface="나눔스퀘어라운드 ExtraBold" panose="020B0600000101010101" pitchFamily="50" charset="-127"/>
            </a:endParaRPr>
          </a:p>
        </p:txBody>
      </p:sp>
      <p:sp>
        <p:nvSpPr>
          <p:cNvPr id="50" name="Shape 48"/>
          <p:cNvSpPr/>
          <p:nvPr/>
        </p:nvSpPr>
        <p:spPr>
          <a:xfrm>
            <a:off x="0" y="6035040"/>
            <a:ext cx="12188952" cy="822960"/>
          </a:xfrm>
          <a:prstGeom prst="rect">
            <a:avLst/>
          </a:prstGeom>
          <a:solidFill>
            <a:srgbClr val="E8F5EE"/>
          </a:solidFill>
          <a:ln w="12700">
            <a:solidFill>
              <a:srgbClr val="4A9E75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0" y="6035040"/>
            <a:ext cx="54864" cy="822960"/>
          </a:xfrm>
          <a:prstGeom prst="rect">
            <a:avLst/>
          </a:prstGeom>
          <a:solidFill>
            <a:srgbClr val="4A9E75"/>
          </a:solidFill>
          <a:ln/>
        </p:spPr>
      </p:sp>
      <p:sp>
        <p:nvSpPr>
          <p:cNvPr id="52" name="Text 50"/>
          <p:cNvSpPr/>
          <p:nvPr/>
        </p:nvSpPr>
        <p:spPr>
          <a:xfrm>
            <a:off x="365760" y="6108192"/>
            <a:ext cx="1145743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C3A2E"/>
                </a:solidFill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✅  Phase 1 MVP부터 실제 현장 투입 가능 — 단계적으로 기능을 추가하며 검증된 서비스를 만들어간다</a:t>
            </a:r>
            <a:endParaRPr lang="en-US" sz="1500" dirty="0">
              <a:latin typeface="나눔스퀘어라운드 ExtraBold" panose="020B0600000101010101" pitchFamily="50" charset="-127"/>
              <a:ea typeface="나눔스퀘어라운드 ExtraBold" panose="020B0600000101010101" pitchFamily="50" charset="-127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EF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2C3E35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4A9E75"/>
          </a:solidFill>
          <a:ln/>
        </p:spPr>
      </p:sp>
      <p:sp>
        <p:nvSpPr>
          <p:cNvPr id="5" name="Text 3"/>
          <p:cNvSpPr/>
          <p:nvPr/>
        </p:nvSpPr>
        <p:spPr>
          <a:xfrm>
            <a:off x="365760" y="109728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EFB"/>
                </a:solidFill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  <a:cs typeface="Pretendard" pitchFamily="34" charset="-120"/>
              </a:rPr>
              <a:t>기술 스택</a:t>
            </a:r>
            <a:endParaRPr lang="en-US" sz="2800" dirty="0">
              <a:latin typeface="나눔스퀘어라운드 ExtraBold" panose="020B0600000101010101" pitchFamily="50" charset="-127"/>
              <a:ea typeface="나눔스퀘어라운드 ExtraBold" panose="020B0600000101010101" pitchFamily="50" charset="-127"/>
            </a:endParaRPr>
          </a:p>
        </p:txBody>
      </p:sp>
      <p:sp>
        <p:nvSpPr>
          <p:cNvPr id="6" name="Text 4"/>
          <p:cNvSpPr/>
          <p:nvPr/>
        </p:nvSpPr>
        <p:spPr>
          <a:xfrm>
            <a:off x="365760" y="676656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A8C4B2"/>
                </a:solidFill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Next.js · Supabase · Claude API · Vercel — 검증된 스택으로 빠른 구현</a:t>
            </a:r>
            <a:endParaRPr lang="en-US" sz="1500" dirty="0">
              <a:latin typeface="나눔스퀘어라운드 ExtraBold" panose="020B0600000101010101" pitchFamily="50" charset="-127"/>
              <a:ea typeface="나눔스퀘어라운드 ExtraBold" panose="020B0600000101010101" pitchFamily="50" charset="-127"/>
            </a:endParaRPr>
          </a:p>
        </p:txBody>
      </p:sp>
      <p:sp>
        <p:nvSpPr>
          <p:cNvPr id="7" name="Text 5"/>
          <p:cNvSpPr/>
          <p:nvPr/>
        </p:nvSpPr>
        <p:spPr>
          <a:xfrm>
            <a:off x="11430000" y="109728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400" dirty="0">
                <a:solidFill>
                  <a:srgbClr val="7A9E8A"/>
                </a:solidFill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10</a:t>
            </a:r>
            <a:endParaRPr lang="en-US" sz="1400" dirty="0">
              <a:latin typeface="나눔스퀘어라운드 ExtraBold" panose="020B0600000101010101" pitchFamily="50" charset="-127"/>
              <a:ea typeface="나눔스퀘어라운드 ExtraBold" panose="020B0600000101010101" pitchFamily="50" charset="-127"/>
            </a:endParaRPr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49864377"/>
              </p:ext>
            </p:extLst>
          </p:nvPr>
        </p:nvGraphicFramePr>
        <p:xfrm>
          <a:off x="365760" y="1371600"/>
          <a:ext cx="11457432" cy="4434840"/>
        </p:xfrm>
        <a:graphic>
          <a:graphicData uri="http://schemas.openxmlformats.org/drawingml/2006/table">
            <a:tbl>
              <a:tblPr/>
              <a:tblGrid>
                <a:gridCol w="381914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1914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191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7391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FFFEFB"/>
                          </a:solidFill>
                          <a:latin typeface="나눔스퀘어라운드 ExtraBold" panose="020B0600000101010101" pitchFamily="50" charset="-127"/>
                          <a:ea typeface="나눔스퀘어라운드 ExtraBold" panose="020B0600000101010101" pitchFamily="50" charset="-127"/>
                          <a:cs typeface="Pretendard" pitchFamily="34" charset="-120"/>
                        </a:rPr>
                        <a:t>영역</a:t>
                      </a:r>
                      <a:endParaRPr lang="en-US" sz="1500" dirty="0">
                        <a:latin typeface="나눔스퀘어라운드 ExtraBold" panose="020B0600000101010101" pitchFamily="50" charset="-127"/>
                        <a:ea typeface="나눔스퀘어라운드 ExtraBold" panose="020B0600000101010101" pitchFamily="50" charset="-127"/>
                        <a:cs typeface="Pretendard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3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FFFEFB"/>
                          </a:solidFill>
                          <a:latin typeface="나눔스퀘어라운드 ExtraBold" panose="020B0600000101010101" pitchFamily="50" charset="-127"/>
                          <a:ea typeface="나눔스퀘어라운드 ExtraBold" panose="020B0600000101010101" pitchFamily="50" charset="-127"/>
                          <a:cs typeface="Pretendard" pitchFamily="34" charset="-120"/>
                        </a:rPr>
                        <a:t>기술</a:t>
                      </a:r>
                      <a:endParaRPr lang="en-US" sz="1500" dirty="0">
                        <a:latin typeface="나눔스퀘어라운드 ExtraBold" panose="020B0600000101010101" pitchFamily="50" charset="-127"/>
                        <a:ea typeface="나눔스퀘어라운드 ExtraBold" panose="020B0600000101010101" pitchFamily="50" charset="-127"/>
                        <a:cs typeface="Pretendard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3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FFFEFB"/>
                          </a:solidFill>
                          <a:latin typeface="나눔스퀘어라운드 ExtraBold" panose="020B0600000101010101" pitchFamily="50" charset="-127"/>
                          <a:ea typeface="나눔스퀘어라운드 ExtraBold" panose="020B0600000101010101" pitchFamily="50" charset="-127"/>
                          <a:cs typeface="Pretendard" pitchFamily="34" charset="-120"/>
                        </a:rPr>
                        <a:t>역할 및 이유</a:t>
                      </a:r>
                      <a:endParaRPr lang="en-US" sz="1500" dirty="0">
                        <a:latin typeface="나눔스퀘어라운드 ExtraBold" panose="020B0600000101010101" pitchFamily="50" charset="-127"/>
                        <a:ea typeface="나눔스퀘어라운드 ExtraBold" panose="020B0600000101010101" pitchFamily="50" charset="-127"/>
                        <a:cs typeface="Pretendard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3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391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2C3A2E"/>
                          </a:solidFill>
                          <a:latin typeface="나눔스퀘어라운드 ExtraBold" panose="020B0600000101010101" pitchFamily="50" charset="-127"/>
                          <a:ea typeface="나눔스퀘어라운드 ExtraBold" panose="020B0600000101010101" pitchFamily="50" charset="-127"/>
                          <a:cs typeface="Pretendard" pitchFamily="34" charset="-120"/>
                        </a:rPr>
                        <a:t>프론트엔드</a:t>
                      </a:r>
                      <a:endParaRPr lang="en-US" sz="1400" dirty="0">
                        <a:latin typeface="나눔스퀘어라운드 ExtraBold" panose="020B0600000101010101" pitchFamily="50" charset="-127"/>
                        <a:ea typeface="나눔스퀘어라운드 ExtraBold" panose="020B0600000101010101" pitchFamily="50" charset="-127"/>
                        <a:cs typeface="Pretendard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E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4A9E75"/>
                          </a:solidFill>
                          <a:latin typeface="나눔스퀘어라운드 ExtraBold" panose="020B0600000101010101" pitchFamily="50" charset="-127"/>
                          <a:ea typeface="나눔스퀘어라운드 ExtraBold" panose="020B0600000101010101" pitchFamily="50" charset="-127"/>
                          <a:cs typeface="Pretendard" pitchFamily="34" charset="-120"/>
                        </a:rPr>
                        <a:t>Next.js 14 + Tailwind CSS + shadcn/ui</a:t>
                      </a:r>
                      <a:endParaRPr lang="en-US" sz="1400" dirty="0">
                        <a:latin typeface="나눔스퀘어라운드 ExtraBold" panose="020B0600000101010101" pitchFamily="50" charset="-127"/>
                        <a:ea typeface="나눔스퀘어라운드 ExtraBold" panose="020B0600000101010101" pitchFamily="50" charset="-127"/>
                        <a:cs typeface="Pretendard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E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5C6B5E"/>
                          </a:solidFill>
                          <a:latin typeface="나눔스퀘어라운드 ExtraBold" panose="020B0600000101010101" pitchFamily="50" charset="-127"/>
                          <a:ea typeface="나눔스퀘어라운드 ExtraBold" panose="020B0600000101010101" pitchFamily="50" charset="-127"/>
                          <a:cs typeface="Pretendard" pitchFamily="34" charset="-120"/>
                        </a:rPr>
                        <a:t>App Router SPA. Vercel 최적화 배포. </a:t>
                      </a:r>
                    </a:p>
                    <a:p>
                      <a:pPr marL="0" indent="0" algn="l">
                        <a:buNone/>
                      </a:pPr>
                      <a:r>
                        <a:rPr lang="en-US" sz="1300" dirty="0" err="1">
                          <a:solidFill>
                            <a:srgbClr val="5C6B5E"/>
                          </a:solidFill>
                          <a:latin typeface="나눔스퀘어라운드 ExtraBold" panose="020B0600000101010101" pitchFamily="50" charset="-127"/>
                          <a:ea typeface="나눔스퀘어라운드 ExtraBold" panose="020B0600000101010101" pitchFamily="50" charset="-127"/>
                          <a:cs typeface="Pretendard" pitchFamily="34" charset="-120"/>
                        </a:rPr>
                        <a:t>반응형</a:t>
                      </a:r>
                      <a:r>
                        <a:rPr lang="en-US" sz="1300" dirty="0">
                          <a:solidFill>
                            <a:srgbClr val="5C6B5E"/>
                          </a:solidFill>
                          <a:latin typeface="나눔스퀘어라운드 ExtraBold" panose="020B0600000101010101" pitchFamily="50" charset="-127"/>
                          <a:ea typeface="나눔스퀘어라운드 ExtraBold" panose="020B0600000101010101" pitchFamily="50" charset="-127"/>
                          <a:cs typeface="Pretendard" pitchFamily="34" charset="-120"/>
                        </a:rPr>
                        <a:t> 모바일 우선 UI</a:t>
                      </a:r>
                      <a:endParaRPr lang="en-US" sz="1300" dirty="0">
                        <a:latin typeface="나눔스퀘어라운드 ExtraBold" panose="020B0600000101010101" pitchFamily="50" charset="-127"/>
                        <a:ea typeface="나눔스퀘어라운드 ExtraBold" panose="020B0600000101010101" pitchFamily="50" charset="-127"/>
                        <a:cs typeface="Pretendard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E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391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2C3A2E"/>
                          </a:solidFill>
                          <a:latin typeface="나눔스퀘어라운드 ExtraBold" panose="020B0600000101010101" pitchFamily="50" charset="-127"/>
                          <a:ea typeface="나눔스퀘어라운드 ExtraBold" panose="020B0600000101010101" pitchFamily="50" charset="-127"/>
                          <a:cs typeface="Pretendard" pitchFamily="34" charset="-120"/>
                        </a:rPr>
                        <a:t>백엔드 / DB</a:t>
                      </a:r>
                      <a:endParaRPr lang="en-US" sz="1400" dirty="0">
                        <a:latin typeface="나눔스퀘어라운드 ExtraBold" panose="020B0600000101010101" pitchFamily="50" charset="-127"/>
                        <a:ea typeface="나눔스퀘어라운드 ExtraBold" panose="020B0600000101010101" pitchFamily="50" charset="-127"/>
                        <a:cs typeface="Pretendard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8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4A9E75"/>
                          </a:solidFill>
                          <a:latin typeface="나눔스퀘어라운드 ExtraBold" panose="020B0600000101010101" pitchFamily="50" charset="-127"/>
                          <a:ea typeface="나눔스퀘어라운드 ExtraBold" panose="020B0600000101010101" pitchFamily="50" charset="-127"/>
                          <a:cs typeface="Pretendard" pitchFamily="34" charset="-120"/>
                        </a:rPr>
                        <a:t>Supabase (PostgreSQL + Auth + RLS + Storage)</a:t>
                      </a:r>
                      <a:endParaRPr lang="en-US" sz="1400" dirty="0">
                        <a:latin typeface="나눔스퀘어라운드 ExtraBold" panose="020B0600000101010101" pitchFamily="50" charset="-127"/>
                        <a:ea typeface="나눔스퀘어라운드 ExtraBold" panose="020B0600000101010101" pitchFamily="50" charset="-127"/>
                        <a:cs typeface="Pretendard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8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5C6B5E"/>
                          </a:solidFill>
                          <a:latin typeface="나눔스퀘어라운드 ExtraBold" panose="020B0600000101010101" pitchFamily="50" charset="-127"/>
                          <a:ea typeface="나눔스퀘어라운드 ExtraBold" panose="020B0600000101010101" pitchFamily="50" charset="-127"/>
                          <a:cs typeface="Pretendard" pitchFamily="34" charset="-120"/>
                        </a:rPr>
                        <a:t>Row Level Security로 학생 데이터 DB 레벨 격리. 실시간 알림</a:t>
                      </a:r>
                      <a:endParaRPr lang="en-US" sz="1300" dirty="0">
                        <a:latin typeface="나눔스퀘어라운드 ExtraBold" panose="020B0600000101010101" pitchFamily="50" charset="-127"/>
                        <a:ea typeface="나눔스퀘어라운드 ExtraBold" panose="020B0600000101010101" pitchFamily="50" charset="-127"/>
                        <a:cs typeface="Pretendard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8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391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2C3A2E"/>
                          </a:solidFill>
                          <a:latin typeface="나눔스퀘어라운드 ExtraBold" panose="020B0600000101010101" pitchFamily="50" charset="-127"/>
                          <a:ea typeface="나눔스퀘어라운드 ExtraBold" panose="020B0600000101010101" pitchFamily="50" charset="-127"/>
                          <a:cs typeface="Pretendard" pitchFamily="34" charset="-120"/>
                        </a:rPr>
                        <a:t>AI 엔진</a:t>
                      </a:r>
                      <a:endParaRPr lang="en-US" sz="1400" dirty="0">
                        <a:latin typeface="나눔스퀘어라운드 ExtraBold" panose="020B0600000101010101" pitchFamily="50" charset="-127"/>
                        <a:ea typeface="나눔스퀘어라운드 ExtraBold" panose="020B0600000101010101" pitchFamily="50" charset="-127"/>
                        <a:cs typeface="Pretendard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E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4A9E75"/>
                          </a:solidFill>
                          <a:latin typeface="나눔스퀘어라운드 ExtraBold" panose="020B0600000101010101" pitchFamily="50" charset="-127"/>
                          <a:ea typeface="나눔스퀘어라운드 ExtraBold" panose="020B0600000101010101" pitchFamily="50" charset="-127"/>
                          <a:cs typeface="Pretendard" pitchFamily="34" charset="-120"/>
                        </a:rPr>
                        <a:t>Claude API (claude-sonnet-4-20250514)</a:t>
                      </a:r>
                      <a:endParaRPr lang="en-US" sz="1400" dirty="0">
                        <a:latin typeface="나눔스퀘어라운드 ExtraBold" panose="020B0600000101010101" pitchFamily="50" charset="-127"/>
                        <a:ea typeface="나눔스퀘어라운드 ExtraBold" panose="020B0600000101010101" pitchFamily="50" charset="-127"/>
                        <a:cs typeface="Pretendard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E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5C6B5E"/>
                          </a:solidFill>
                          <a:latin typeface="나눔스퀘어라운드 ExtraBold" panose="020B0600000101010101" pitchFamily="50" charset="-127"/>
                          <a:ea typeface="나눔스퀘어라운드 ExtraBold" panose="020B0600000101010101" pitchFamily="50" charset="-127"/>
                          <a:cs typeface="Pretendard" pitchFamily="34" charset="-120"/>
                        </a:rPr>
                        <a:t>감정 분석, CIREF 대화 엔진, 위기 신호 감지, </a:t>
                      </a:r>
                    </a:p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5C6B5E"/>
                          </a:solidFill>
                          <a:latin typeface="나눔스퀘어라운드 ExtraBold" panose="020B0600000101010101" pitchFamily="50" charset="-127"/>
                          <a:ea typeface="나눔스퀘어라운드 ExtraBold" panose="020B0600000101010101" pitchFamily="50" charset="-127"/>
                          <a:cs typeface="Pretendard" pitchFamily="34" charset="-120"/>
                        </a:rPr>
                        <a:t>MI 기법 재질문</a:t>
                      </a:r>
                      <a:endParaRPr lang="en-US" sz="1300" dirty="0">
                        <a:latin typeface="나눔스퀘어라운드 ExtraBold" panose="020B0600000101010101" pitchFamily="50" charset="-127"/>
                        <a:ea typeface="나눔스퀘어라운드 ExtraBold" panose="020B0600000101010101" pitchFamily="50" charset="-127"/>
                        <a:cs typeface="Pretendard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E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391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2C3A2E"/>
                          </a:solidFill>
                          <a:latin typeface="나눔스퀘어라운드 ExtraBold" panose="020B0600000101010101" pitchFamily="50" charset="-127"/>
                          <a:ea typeface="나눔스퀘어라운드 ExtraBold" panose="020B0600000101010101" pitchFamily="50" charset="-127"/>
                          <a:cs typeface="Pretendard" pitchFamily="34" charset="-120"/>
                        </a:rPr>
                        <a:t>이미지 생성</a:t>
                      </a:r>
                      <a:endParaRPr lang="en-US" sz="1400" dirty="0">
                        <a:latin typeface="나눔스퀘어라운드 ExtraBold" panose="020B0600000101010101" pitchFamily="50" charset="-127"/>
                        <a:ea typeface="나눔스퀘어라운드 ExtraBold" panose="020B0600000101010101" pitchFamily="50" charset="-127"/>
                        <a:cs typeface="Pretendard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8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4A9E75"/>
                          </a:solidFill>
                          <a:latin typeface="나눔스퀘어라운드 ExtraBold" panose="020B0600000101010101" pitchFamily="50" charset="-127"/>
                          <a:ea typeface="나눔스퀘어라운드 ExtraBold" panose="020B0600000101010101" pitchFamily="50" charset="-127"/>
                          <a:cs typeface="Pretendard" pitchFamily="34" charset="-120"/>
                        </a:rPr>
                        <a:t>Replicate / fal.ai (Stable Diffusion)</a:t>
                      </a:r>
                      <a:endParaRPr lang="en-US" sz="1400" dirty="0">
                        <a:latin typeface="나눔스퀘어라운드 ExtraBold" panose="020B0600000101010101" pitchFamily="50" charset="-127"/>
                        <a:ea typeface="나눔스퀘어라운드 ExtraBold" panose="020B0600000101010101" pitchFamily="50" charset="-127"/>
                        <a:cs typeface="Pretendard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8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5C6B5E"/>
                          </a:solidFill>
                          <a:latin typeface="나눔스퀘어라운드 ExtraBold" panose="020B0600000101010101" pitchFamily="50" charset="-127"/>
                          <a:ea typeface="나눔스퀘어라운드 ExtraBold" panose="020B0600000101010101" pitchFamily="50" charset="-127"/>
                          <a:cs typeface="Pretendard" pitchFamily="34" charset="-120"/>
                        </a:rPr>
                        <a:t>미래 자화상 AI 이미지. 1인칭 시점, </a:t>
                      </a:r>
                    </a:p>
                    <a:p>
                      <a:pPr marL="0" indent="0" algn="l">
                        <a:buNone/>
                      </a:pPr>
                      <a:r>
                        <a:rPr lang="en-US" sz="1300" dirty="0" err="1">
                          <a:solidFill>
                            <a:srgbClr val="5C6B5E"/>
                          </a:solidFill>
                          <a:latin typeface="나눔스퀘어라운드 ExtraBold" panose="020B0600000101010101" pitchFamily="50" charset="-127"/>
                          <a:ea typeface="나눔스퀘어라운드 ExtraBold" panose="020B0600000101010101" pitchFamily="50" charset="-127"/>
                          <a:cs typeface="Pretendard" pitchFamily="34" charset="-120"/>
                        </a:rPr>
                        <a:t>사실적</a:t>
                      </a:r>
                      <a:r>
                        <a:rPr lang="en-US" sz="1300" dirty="0">
                          <a:solidFill>
                            <a:srgbClr val="5C6B5E"/>
                          </a:solidFill>
                          <a:latin typeface="나눔스퀘어라운드 ExtraBold" panose="020B0600000101010101" pitchFamily="50" charset="-127"/>
                          <a:ea typeface="나눔스퀘어라운드 ExtraBold" panose="020B0600000101010101" pitchFamily="50" charset="-127"/>
                          <a:cs typeface="Pretendard" pitchFamily="34" charset="-120"/>
                        </a:rPr>
                        <a:t> 스타일 프롬프트</a:t>
                      </a:r>
                      <a:endParaRPr lang="en-US" sz="1300" dirty="0">
                        <a:latin typeface="나눔스퀘어라운드 ExtraBold" panose="020B0600000101010101" pitchFamily="50" charset="-127"/>
                        <a:ea typeface="나눔스퀘어라운드 ExtraBold" panose="020B0600000101010101" pitchFamily="50" charset="-127"/>
                        <a:cs typeface="Pretendard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8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391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2C3A2E"/>
                          </a:solidFill>
                          <a:latin typeface="나눔스퀘어라운드 ExtraBold" panose="020B0600000101010101" pitchFamily="50" charset="-127"/>
                          <a:ea typeface="나눔스퀘어라운드 ExtraBold" panose="020B0600000101010101" pitchFamily="50" charset="-127"/>
                          <a:cs typeface="Pretendard" pitchFamily="34" charset="-120"/>
                        </a:rPr>
                        <a:t>배포 / 인프라</a:t>
                      </a:r>
                      <a:endParaRPr lang="en-US" sz="1400" dirty="0">
                        <a:latin typeface="나눔스퀘어라운드 ExtraBold" panose="020B0600000101010101" pitchFamily="50" charset="-127"/>
                        <a:ea typeface="나눔스퀘어라운드 ExtraBold" panose="020B0600000101010101" pitchFamily="50" charset="-127"/>
                        <a:cs typeface="Pretendard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E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4A9E75"/>
                          </a:solidFill>
                          <a:latin typeface="나눔스퀘어라운드 ExtraBold" panose="020B0600000101010101" pitchFamily="50" charset="-127"/>
                          <a:ea typeface="나눔스퀘어라운드 ExtraBold" panose="020B0600000101010101" pitchFamily="50" charset="-127"/>
                          <a:cs typeface="Pretendard" pitchFamily="34" charset="-120"/>
                        </a:rPr>
                        <a:t>Vercel + Supabase Storage + html2canvas + jsPDF</a:t>
                      </a:r>
                      <a:endParaRPr lang="en-US" sz="1400" dirty="0">
                        <a:latin typeface="나눔스퀘어라운드 ExtraBold" panose="020B0600000101010101" pitchFamily="50" charset="-127"/>
                        <a:ea typeface="나눔스퀘어라운드 ExtraBold" panose="020B0600000101010101" pitchFamily="50" charset="-127"/>
                        <a:cs typeface="Pretendard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E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5C6B5E"/>
                          </a:solidFill>
                          <a:latin typeface="나눔스퀘어라운드 ExtraBold" panose="020B0600000101010101" pitchFamily="50" charset="-127"/>
                          <a:ea typeface="나눔스퀘어라운드 ExtraBold" panose="020B0600000101010101" pitchFamily="50" charset="-127"/>
                          <a:cs typeface="Pretendard" pitchFamily="34" charset="-120"/>
                        </a:rPr>
                        <a:t>99% uptime. 이미지 파일 보관. </a:t>
                      </a:r>
                    </a:p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5C6B5E"/>
                          </a:solidFill>
                          <a:latin typeface="나눔스퀘어라운드 ExtraBold" panose="020B0600000101010101" pitchFamily="50" charset="-127"/>
                          <a:ea typeface="나눔스퀘어라운드 ExtraBold" panose="020B0600000101010101" pitchFamily="50" charset="-127"/>
                          <a:cs typeface="Pretendard" pitchFamily="34" charset="-120"/>
                        </a:rPr>
                        <a:t>PDF 리포트 내보내기</a:t>
                      </a:r>
                      <a:endParaRPr lang="en-US" sz="1300" dirty="0">
                        <a:latin typeface="나눔스퀘어라운드 ExtraBold" panose="020B0600000101010101" pitchFamily="50" charset="-127"/>
                        <a:ea typeface="나눔스퀘어라운드 ExtraBold" panose="020B0600000101010101" pitchFamily="50" charset="-127"/>
                        <a:cs typeface="Pretendard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E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9" name="Shape 6"/>
          <p:cNvSpPr/>
          <p:nvPr/>
        </p:nvSpPr>
        <p:spPr>
          <a:xfrm>
            <a:off x="365760" y="5870448"/>
            <a:ext cx="11457432" cy="365760"/>
          </a:xfrm>
          <a:prstGeom prst="rect">
            <a:avLst/>
          </a:prstGeom>
          <a:solidFill>
            <a:srgbClr val="E8F5EE"/>
          </a:solidFill>
          <a:ln w="25400">
            <a:solidFill>
              <a:srgbClr val="4A9E75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48640" y="5907024"/>
            <a:ext cx="110916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C3A2E"/>
                </a:solidFill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💡  Claude Code (Vibe Coding) 방식으로 개발 — AI가 코드 작성, 개발자는 방향과 검증에 집중</a:t>
            </a:r>
            <a:endParaRPr lang="en-US" sz="1300" dirty="0">
              <a:latin typeface="나눔스퀘어라운드 ExtraBold" panose="020B0600000101010101" pitchFamily="50" charset="-127"/>
              <a:ea typeface="나눔스퀘어라운드 ExtraBold" panose="020B0600000101010101" pitchFamily="50" charset="-127"/>
            </a:endParaRPr>
          </a:p>
        </p:txBody>
      </p:sp>
      <p:sp>
        <p:nvSpPr>
          <p:cNvPr id="8" name="Shape 8"/>
          <p:cNvSpPr/>
          <p:nvPr/>
        </p:nvSpPr>
        <p:spPr>
          <a:xfrm>
            <a:off x="0" y="6309360"/>
            <a:ext cx="12188952" cy="548640"/>
          </a:xfrm>
          <a:prstGeom prst="rect">
            <a:avLst/>
          </a:prstGeom>
          <a:solidFill>
            <a:srgbClr val="2C3E35"/>
          </a:solidFill>
          <a:ln/>
        </p:spPr>
      </p:sp>
      <p:sp>
        <p:nvSpPr>
          <p:cNvPr id="12" name="Text 9"/>
          <p:cNvSpPr/>
          <p:nvPr/>
        </p:nvSpPr>
        <p:spPr>
          <a:xfrm>
            <a:off x="365760" y="6336792"/>
            <a:ext cx="114574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EFB"/>
                </a:solidFill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▶  Next.js + Supabase + Claude API — 청소년 AI 상담에 최적화된 검증된 풀스택 조합</a:t>
            </a:r>
            <a:endParaRPr lang="en-US" sz="1500" dirty="0">
              <a:latin typeface="나눔스퀘어라운드 ExtraBold" panose="020B0600000101010101" pitchFamily="50" charset="-127"/>
              <a:ea typeface="나눔스퀘어라운드 ExtraBold" panose="020B0600000101010101" pitchFamily="50" charset="-127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EF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4A9E75"/>
          </a:solidFill>
          <a:ln/>
        </p:spPr>
      </p:sp>
      <p:sp>
        <p:nvSpPr>
          <p:cNvPr id="4" name="Shape 2"/>
          <p:cNvSpPr/>
          <p:nvPr/>
        </p:nvSpPr>
        <p:spPr>
          <a:xfrm>
            <a:off x="164592" y="0"/>
            <a:ext cx="12024360" cy="914400"/>
          </a:xfrm>
          <a:prstGeom prst="rect">
            <a:avLst/>
          </a:prstGeom>
          <a:solidFill>
            <a:srgbClr val="F4F1E8"/>
          </a:solidFill>
          <a:ln/>
        </p:spPr>
      </p:sp>
      <p:sp>
        <p:nvSpPr>
          <p:cNvPr id="5" name="Shape 3"/>
          <p:cNvSpPr/>
          <p:nvPr/>
        </p:nvSpPr>
        <p:spPr>
          <a:xfrm>
            <a:off x="164592" y="914400"/>
            <a:ext cx="12024360" cy="0"/>
          </a:xfrm>
          <a:prstGeom prst="line">
            <a:avLst/>
          </a:prstGeom>
          <a:noFill/>
          <a:ln w="12700">
            <a:solidFill>
              <a:srgbClr val="DDD8C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256032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4A9E75"/>
                </a:solidFill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인터넷 드림마을</a:t>
            </a:r>
            <a:endParaRPr lang="en-US" sz="2000" dirty="0">
              <a:latin typeface="나눔스퀘어라운드 ExtraBold" panose="020B0600000101010101" pitchFamily="50" charset="-127"/>
              <a:ea typeface="나눔스퀘어라운드 ExtraBold" panose="020B0600000101010101" pitchFamily="50" charset="-127"/>
            </a:endParaRPr>
          </a:p>
        </p:txBody>
      </p:sp>
      <p:sp>
        <p:nvSpPr>
          <p:cNvPr id="7" name="Text 5"/>
          <p:cNvSpPr/>
          <p:nvPr/>
        </p:nvSpPr>
        <p:spPr>
          <a:xfrm>
            <a:off x="548640" y="1188720"/>
            <a:ext cx="73152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2C3A2E"/>
                </a:solidFill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청소년의 더 나은</a:t>
            </a:r>
            <a:endParaRPr lang="en-US" sz="4000" dirty="0">
              <a:latin typeface="나눔스퀘어라운드 ExtraBold" panose="020B0600000101010101" pitchFamily="50" charset="-127"/>
              <a:ea typeface="나눔스퀘어라운드 ExtraBold" panose="020B0600000101010101" pitchFamily="50" charset="-127"/>
            </a:endParaRPr>
          </a:p>
          <a:p>
            <a:pPr marL="0" indent="0">
              <a:buNone/>
            </a:pPr>
            <a:r>
              <a:rPr lang="en-US" sz="4000" b="1" dirty="0">
                <a:solidFill>
                  <a:srgbClr val="2C3A2E"/>
                </a:solidFill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미래를 AI와</a:t>
            </a:r>
            <a:endParaRPr lang="en-US" sz="4000" dirty="0">
              <a:latin typeface="나눔스퀘어라운드 ExtraBold" panose="020B0600000101010101" pitchFamily="50" charset="-127"/>
              <a:ea typeface="나눔스퀘어라운드 ExtraBold" panose="020B0600000101010101" pitchFamily="50" charset="-127"/>
            </a:endParaRPr>
          </a:p>
          <a:p>
            <a:pPr marL="0" indent="0">
              <a:buNone/>
            </a:pPr>
            <a:r>
              <a:rPr lang="en-US" sz="4000" b="1" dirty="0">
                <a:solidFill>
                  <a:srgbClr val="2C3A2E"/>
                </a:solidFill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함께 그립니다</a:t>
            </a:r>
            <a:endParaRPr lang="en-US" sz="4000" dirty="0">
              <a:latin typeface="나눔스퀘어라운드 ExtraBold" panose="020B0600000101010101" pitchFamily="50" charset="-127"/>
              <a:ea typeface="나눔스퀘어라운드 ExtraBold" panose="020B0600000101010101" pitchFamily="50" charset="-127"/>
            </a:endParaRPr>
          </a:p>
        </p:txBody>
      </p:sp>
      <p:sp>
        <p:nvSpPr>
          <p:cNvPr id="8" name="Text 6"/>
          <p:cNvSpPr/>
          <p:nvPr/>
        </p:nvSpPr>
        <p:spPr>
          <a:xfrm>
            <a:off x="548640" y="4069080"/>
            <a:ext cx="7498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5C6B5E"/>
                </a:solidFill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스마트폰 과몰입에서 벗어나</a:t>
            </a:r>
            <a:endParaRPr lang="en-US" sz="1800" dirty="0">
              <a:latin typeface="나눔스퀘어라운드 ExtraBold" panose="020B0600000101010101" pitchFamily="50" charset="-127"/>
              <a:ea typeface="나눔스퀘어라운드 ExtraBold" panose="020B0600000101010101" pitchFamily="50" charset="-127"/>
            </a:endParaRPr>
          </a:p>
          <a:p>
            <a:pPr marL="0" indent="0">
              <a:buNone/>
            </a:pPr>
            <a:r>
              <a:rPr lang="en-US" sz="1800" dirty="0">
                <a:solidFill>
                  <a:srgbClr val="5C6B5E"/>
                </a:solidFill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꿈을 꾸는 아이들을 위한 AI 상담 플랫폼</a:t>
            </a:r>
            <a:endParaRPr lang="en-US" sz="1800" dirty="0">
              <a:latin typeface="나눔스퀘어라운드 ExtraBold" panose="020B0600000101010101" pitchFamily="50" charset="-127"/>
              <a:ea typeface="나눔스퀘어라운드 ExtraBold" panose="020B0600000101010101" pitchFamily="50" charset="-127"/>
            </a:endParaRPr>
          </a:p>
        </p:txBody>
      </p:sp>
      <p:sp>
        <p:nvSpPr>
          <p:cNvPr id="9" name="Shape 7"/>
          <p:cNvSpPr/>
          <p:nvPr/>
        </p:nvSpPr>
        <p:spPr>
          <a:xfrm>
            <a:off x="548640" y="5029200"/>
            <a:ext cx="5029200" cy="0"/>
          </a:xfrm>
          <a:prstGeom prst="line">
            <a:avLst/>
          </a:prstGeom>
          <a:noFill/>
          <a:ln w="12700">
            <a:solidFill>
              <a:srgbClr val="DDD8C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48640" y="5650992"/>
            <a:ext cx="2011680" cy="475488"/>
          </a:xfrm>
          <a:prstGeom prst="rect">
            <a:avLst/>
          </a:prstGeom>
          <a:solidFill>
            <a:srgbClr val="4A9E75"/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" y="5687568"/>
            <a:ext cx="20116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EFB"/>
                </a:solidFill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Q &amp; A</a:t>
            </a:r>
            <a:endParaRPr lang="en-US" sz="2200" dirty="0">
              <a:latin typeface="나눔스퀘어라운드 ExtraBold" panose="020B0600000101010101" pitchFamily="50" charset="-127"/>
              <a:ea typeface="나눔스퀘어라운드 ExtraBold" panose="020B0600000101010101" pitchFamily="50" charset="-127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8595360" y="914400"/>
            <a:ext cx="3429000" cy="5943600"/>
          </a:xfrm>
          <a:prstGeom prst="rect">
            <a:avLst/>
          </a:prstGeom>
          <a:solidFill>
            <a:srgbClr val="FAF8F2"/>
          </a:solidFill>
          <a:ln w="12700">
            <a:solidFill>
              <a:srgbClr val="DDD8C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778240" y="1097280"/>
            <a:ext cx="3063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4A9E75"/>
                </a:solidFill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핵심 요약</a:t>
            </a:r>
            <a:endParaRPr lang="en-US" sz="1400" dirty="0">
              <a:latin typeface="나눔스퀘어라운드 ExtraBold" panose="020B0600000101010101" pitchFamily="50" charset="-127"/>
              <a:ea typeface="나눔스퀘어라운드 ExtraBold" panose="020B0600000101010101" pitchFamily="50" charset="-127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8778240" y="1481328"/>
            <a:ext cx="3063240" cy="0"/>
          </a:xfrm>
          <a:prstGeom prst="line">
            <a:avLst/>
          </a:prstGeom>
          <a:noFill/>
          <a:ln w="12700">
            <a:solidFill>
              <a:srgbClr val="DDD8C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778240" y="1645920"/>
            <a:ext cx="30632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C3A2E"/>
                </a:solidFill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🧠  EFT · CIREF 이론 기반</a:t>
            </a:r>
            <a:endParaRPr lang="en-US" sz="1300" dirty="0">
              <a:latin typeface="나눔스퀘어라운드 ExtraBold" panose="020B0600000101010101" pitchFamily="50" charset="-127"/>
              <a:ea typeface="나눔스퀘어라운드 ExtraBold" panose="020B0600000101010101" pitchFamily="50" charset="-127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8778240" y="2194560"/>
            <a:ext cx="30632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C3A2E"/>
                </a:solidFill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📖  마음일기 + 꽃 시각화</a:t>
            </a:r>
            <a:endParaRPr lang="en-US" sz="1300" dirty="0">
              <a:latin typeface="나눔스퀘어라운드 ExtraBold" panose="020B0600000101010101" pitchFamily="50" charset="-127"/>
              <a:ea typeface="나눔스퀘어라운드 ExtraBold" panose="020B0600000101010101" pitchFamily="50" charset="-127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8778240" y="2743200"/>
            <a:ext cx="30632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C3A2E"/>
                </a:solidFill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🔮  AI 자화상 생성</a:t>
            </a:r>
            <a:endParaRPr lang="en-US" sz="1300" dirty="0">
              <a:latin typeface="나눔스퀘어라운드 ExtraBold" panose="020B0600000101010101" pitchFamily="50" charset="-127"/>
              <a:ea typeface="나눔스퀘어라운드 ExtraBold" panose="020B0600000101010101" pitchFamily="50" charset="-127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8778240" y="3291840"/>
            <a:ext cx="30632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C3A2E"/>
                </a:solidFill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📊  자가진단 + 추이 추적</a:t>
            </a:r>
            <a:endParaRPr lang="en-US" sz="1300" dirty="0">
              <a:latin typeface="나눔스퀘어라운드 ExtraBold" panose="020B0600000101010101" pitchFamily="50" charset="-127"/>
              <a:ea typeface="나눔스퀘어라운드 ExtraBold" panose="020B0600000101010101" pitchFamily="50" charset="-127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8778240" y="3840480"/>
            <a:ext cx="30632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C3A2E"/>
                </a:solidFill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🧩  미로 풀기 게임</a:t>
            </a:r>
            <a:endParaRPr lang="en-US" sz="1300" dirty="0">
              <a:latin typeface="나눔스퀘어라운드 ExtraBold" panose="020B0600000101010101" pitchFamily="50" charset="-127"/>
              <a:ea typeface="나눔스퀘어라운드 ExtraBold" panose="020B0600000101010101" pitchFamily="50" charset="-127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8778240" y="4389120"/>
            <a:ext cx="30632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C3A2E"/>
                </a:solidFill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🔔  실시간 위기 신호 감지</a:t>
            </a:r>
            <a:endParaRPr lang="en-US" sz="1300" dirty="0">
              <a:latin typeface="나눔스퀘어라운드 ExtraBold" panose="020B0600000101010101" pitchFamily="50" charset="-127"/>
              <a:ea typeface="나눔스퀘어라운드 ExtraBold" panose="020B0600000101010101" pitchFamily="50" charset="-127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8778240" y="4937760"/>
            <a:ext cx="30632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C3A2E"/>
                </a:solidFill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🏫  3-Tier 계정 구조</a:t>
            </a:r>
            <a:endParaRPr lang="en-US" sz="1300" dirty="0">
              <a:latin typeface="나눔스퀘어라운드 ExtraBold" panose="020B0600000101010101" pitchFamily="50" charset="-127"/>
              <a:ea typeface="나눔스퀘어라운드 ExtraBold" panose="020B0600000101010101" pitchFamily="50" charset="-127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8778240" y="5486400"/>
            <a:ext cx="30632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C3A2E"/>
                </a:solidFill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⚡  Claude Code로 빠른 개발</a:t>
            </a:r>
            <a:endParaRPr lang="en-US" sz="1300" dirty="0">
              <a:latin typeface="나눔스퀘어라운드 ExtraBold" panose="020B0600000101010101" pitchFamily="50" charset="-127"/>
              <a:ea typeface="나눔스퀘어라운드 ExtraBold" panose="020B0600000101010101" pitchFamily="50" charset="-127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Pretendard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Pretendard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36</TotalTime>
  <Words>1482</Words>
  <Application>Microsoft Office PowerPoint</Application>
  <PresentationFormat>와이드스크린</PresentationFormat>
  <Paragraphs>304</Paragraphs>
  <Slides>11</Slides>
  <Notes>11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11</vt:i4>
      </vt:variant>
    </vt:vector>
  </HeadingPairs>
  <TitlesOfParts>
    <vt:vector size="14" baseType="lpstr">
      <vt:lpstr>나눔스퀘어라운드 ExtraBold</vt:lpstr>
      <vt:lpstr>Arial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인터넷 드림마을</dc:title>
  <dc:subject>PptxGenJS Presentation</dc:subject>
  <dc:creator>MK</dc:creator>
  <cp:lastModifiedBy>minkyu kim</cp:lastModifiedBy>
  <cp:revision>4</cp:revision>
  <dcterms:created xsi:type="dcterms:W3CDTF">2026-05-30T13:35:08Z</dcterms:created>
  <dcterms:modified xsi:type="dcterms:W3CDTF">2026-05-30T14:12:49Z</dcterms:modified>
</cp:coreProperties>
</file>